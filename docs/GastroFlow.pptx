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1"/>
    <p:restoredTop sz="94624"/>
  </p:normalViewPr>
  <p:slideViewPr>
    <p:cSldViewPr snapToGrid="0" snapToObjects="1">
      <p:cViewPr varScale="1">
        <p:scale>
          <a:sx n="122" d="100"/>
          <a:sy n="122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6CFB7"/>
                </a:solidFill>
                <a:latin typeface="Aptos"/>
              </a:rPr>
              <a:t>PRAKTIKUM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GastroFlow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97480"/>
            <a:ext cx="594360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DCE5DE"/>
                </a:solidFill>
                <a:latin typeface="Aptos"/>
              </a:rPr>
              <a:t>Ein digitales Bestell- und
Betriebssystem für Gastronomien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4160520"/>
            <a:ext cx="52120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B7C4BB"/>
                </a:solidFill>
                <a:latin typeface="Aptos"/>
              </a:rPr>
              <a:t>Vom Tisch direkt in die Küche –
und alles an einem Ort im Blick.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914400"/>
            <a:ext cx="3840480" cy="5029200"/>
          </a:xfrm>
          <a:prstGeom prst="roundRect">
            <a:avLst>
              <a:gd name="adj" fmla="val 12000"/>
            </a:avLst>
          </a:prstGeom>
          <a:solidFill>
            <a:srgbClr val="2B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1325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65008" y="1874519"/>
            <a:ext cx="1005840" cy="411480"/>
          </a:xfrm>
          <a:prstGeom prst="roundRect">
            <a:avLst>
              <a:gd name="adj" fmla="val 12000"/>
            </a:avLst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47304" y="1947672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Tisch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487168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C2321"/>
                </a:solidFill>
                <a:latin typeface="Aptos"/>
              </a:rPr>
              <a:t>2× Burger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2926080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C2321"/>
                </a:solidFill>
                <a:latin typeface="Aptos"/>
              </a:rPr>
              <a:t>1× Pommes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364992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C2321"/>
                </a:solidFill>
                <a:latin typeface="Aptos"/>
              </a:rPr>
              <a:t>2× Cola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822191"/>
            <a:ext cx="1005840" cy="320040"/>
          </a:xfrm>
          <a:prstGeom prst="roundRect">
            <a:avLst>
              <a:gd name="adj" fmla="val 12000"/>
            </a:avLst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3877056"/>
            <a:ext cx="8686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Senden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514600"/>
            <a:ext cx="502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DE7D4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645920"/>
            <a:ext cx="1143000" cy="2286000"/>
          </a:xfrm>
          <a:prstGeom prst="roundRect">
            <a:avLst>
              <a:gd name="adj" fmla="val 12000"/>
            </a:avLst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1847088"/>
            <a:ext cx="868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KÜCHE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267712"/>
            <a:ext cx="868680" cy="329184"/>
          </a:xfrm>
          <a:prstGeom prst="roundRect">
            <a:avLst>
              <a:gd name="adj" fmla="val 12000"/>
            </a:avLst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21824" y="2340864"/>
            <a:ext cx="7498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Neu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724912"/>
            <a:ext cx="868680" cy="329184"/>
          </a:xfrm>
          <a:prstGeom prst="roundRect">
            <a:avLst>
              <a:gd name="adj" fmla="val 12000"/>
            </a:avLst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21824" y="2798064"/>
            <a:ext cx="7498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In Arbeit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3182112"/>
            <a:ext cx="868680" cy="329184"/>
          </a:xfrm>
          <a:prstGeom prst="roundRect">
            <a:avLst>
              <a:gd name="adj" fmla="val 12000"/>
            </a:avLst>
          </a:prstGeom>
          <a:solidFill>
            <a:srgbClr val="687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1824" y="3255264"/>
            <a:ext cx="7498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Fertig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709160"/>
            <a:ext cx="31089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Kellner-App  →  Küchen-Dashboard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01 · AUSGANGSLAGE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2321"/>
                </a:solidFill>
                <a:latin typeface="Aptos"/>
              </a:rPr>
              <a:t>Im Service zählt jede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8716B"/>
                </a:solidFill>
                <a:latin typeface="Aptos"/>
              </a:rPr>
              <a:t>Viele Abläufe in Gastronomiebetrieben sind noch unnötig umständlich.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8716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747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240280"/>
            <a:ext cx="457200" cy="457200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C2321"/>
                </a:solidFill>
                <a:latin typeface="Aptos"/>
              </a:rPr>
              <a:t>Bestellungen gehen verloren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84448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8716B"/>
                </a:solidFill>
                <a:latin typeface="Aptos"/>
              </a:rPr>
              <a:t>Handschriftliche Notizen oder Zurufe führen zu Missverständnissen.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65960"/>
            <a:ext cx="34747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36592" y="2240280"/>
            <a:ext cx="457200" cy="457200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926080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C2321"/>
                </a:solidFill>
                <a:latin typeface="Aptos"/>
              </a:rPr>
              <a:t>Informationen kommen spät 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584448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8716B"/>
                </a:solidFill>
                <a:latin typeface="Aptos"/>
              </a:rPr>
              <a:t>Die Küche erfährt nicht immer sofort, was bestellt oder geändert wurde.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34747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77072" y="2240280"/>
            <a:ext cx="457200" cy="457200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926080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C2321"/>
                </a:solidFill>
                <a:latin typeface="Aptos"/>
              </a:rPr>
              <a:t>Wenig Überblick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584448"/>
            <a:ext cx="28803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8716B"/>
                </a:solidFill>
                <a:latin typeface="Aptos"/>
              </a:rPr>
              <a:t>Die Betriebsleitung sieht Auslastung, offene Bestellungen und Engpässe nicht zentral.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49240"/>
            <a:ext cx="10927080" cy="685800"/>
          </a:xfrm>
          <a:prstGeom prst="roundRect">
            <a:avLst>
              <a:gd name="adj" fmla="val 12000"/>
            </a:avLst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75B49"/>
                </a:solidFill>
                <a:latin typeface="Aptos"/>
              </a:rPr>
              <a:t>Ziel: Weniger Übertragungsfehler, schnellere Abläufe und ein gemeinsamer Informationsstand.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02 · LÖSUNG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2321"/>
                </a:solidFill>
                <a:latin typeface="Aptos"/>
              </a:rPr>
              <a:t>Ein System für den gesamten Betrieb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8716B"/>
                </a:solidFill>
                <a:latin typeface="Aptos"/>
              </a:rPr>
              <a:t>GastroFlow verbindet Service, Küche und Betriebsleitung in einem gemeinsamen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8716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331720"/>
            <a:ext cx="3611880" cy="1143000"/>
          </a:xfrm>
          <a:prstGeom prst="roundRect">
            <a:avLst>
              <a:gd name="adj" fmla="val 12000"/>
            </a:avLst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587752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ptos"/>
              </a:rPr>
              <a:t>GASTROFLOW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999232"/>
            <a:ext cx="3063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DDEDE2"/>
                </a:solidFill>
                <a:latin typeface="Aptos"/>
              </a:rPr>
              <a:t>Gemeinsame Bestell- und Statusdaten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28803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91440" cy="1965960"/>
          </a:xfrm>
          <a:prstGeom prst="rect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221991"/>
            <a:ext cx="2423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C2321"/>
                </a:solidFill>
                <a:latin typeface="Aptos"/>
              </a:rPr>
              <a:t>Kellner-App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15768"/>
            <a:ext cx="242316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8716B"/>
                </a:solidFill>
                <a:latin typeface="Aptos"/>
              </a:rPr>
              <a:t>Bestellungen direkt am Tisch aufnehmen und an die Küche senden.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965960"/>
            <a:ext cx="28803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49640" y="1965960"/>
            <a:ext cx="91440" cy="1965960"/>
          </a:xfrm>
          <a:prstGeom prst="rect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05672" y="2221991"/>
            <a:ext cx="2423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C2321"/>
                </a:solidFill>
                <a:latin typeface="Aptos"/>
              </a:rPr>
              <a:t>Küchen-Dashboard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715768"/>
            <a:ext cx="242316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8716B"/>
                </a:solidFill>
                <a:latin typeface="Aptos"/>
              </a:rPr>
              <a:t>Eingehende Bestellungen sehen, priorisieren und als fertig markieren.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251960"/>
            <a:ext cx="3611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60" y="4251960"/>
            <a:ext cx="91440" cy="1371600"/>
          </a:xfrm>
          <a:prstGeom prst="rect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4507992"/>
            <a:ext cx="31546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C2321"/>
                </a:solidFill>
                <a:latin typeface="Aptos"/>
              </a:rPr>
              <a:t>Leitungs-Dashboard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5001768"/>
            <a:ext cx="31546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8716B"/>
                </a:solidFill>
                <a:latin typeface="Aptos"/>
              </a:rPr>
              <a:t>Offene Bestellungen, Status und Tagesübersicht zentral einsehen.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697480"/>
            <a:ext cx="548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DE7D42"/>
                </a:solidFill>
                <a:latin typeface="Aptos"/>
              </a:rPr>
              <a:t>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97480"/>
            <a:ext cx="548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DE7D42"/>
                </a:solidFill>
                <a:latin typeface="Aptos"/>
              </a:rPr>
              <a:t>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657600"/>
            <a:ext cx="640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500" b="1" i="0">
                <a:solidFill>
                  <a:srgbClr val="DE7D42"/>
                </a:solidFill>
                <a:latin typeface="Aptos"/>
              </a:rPr>
              <a:t>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04 · ABLAUF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2321"/>
                </a:solidFill>
                <a:latin typeface="Aptos"/>
              </a:rPr>
              <a:t>So läuft eine Bestellung durch das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8716B"/>
                </a:solidFill>
                <a:latin typeface="Aptos"/>
              </a:rPr>
              <a:t>Ein durchgängiger Prozess macht sichtbar, was als Nächstes passieren muss.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8716B"/>
                </a:solidFill>
                <a:latin typeface="Aptos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148840"/>
            <a:ext cx="658368" cy="65836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8568" y="2441448"/>
            <a:ext cx="1097280" cy="45720"/>
          </a:xfrm>
          <a:prstGeom prst="rect">
            <a:avLst/>
          </a:prstGeom>
          <a:solidFill>
            <a:srgbClr val="CC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331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C2321"/>
                </a:solidFill>
                <a:latin typeface="Aptos"/>
              </a:rPr>
              <a:t>Aufnehmen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33172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8716B"/>
                </a:solidFill>
                <a:latin typeface="Aptos"/>
              </a:rPr>
              <a:t>Kellner wählt Tisch und Produkte aus.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148840"/>
            <a:ext cx="658368" cy="65836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8928" y="2441448"/>
            <a:ext cx="1097280" cy="45720"/>
          </a:xfrm>
          <a:prstGeom prst="rect">
            <a:avLst/>
          </a:prstGeom>
          <a:solidFill>
            <a:srgbClr val="CC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331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C2321"/>
                </a:solidFill>
                <a:latin typeface="Aptos"/>
              </a:rPr>
              <a:t>Übermitteln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66160"/>
            <a:ext cx="233172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8716B"/>
                </a:solidFill>
                <a:latin typeface="Aptos"/>
              </a:rPr>
              <a:t>Bestellung wird zentral gespeichert und an die Küche gesendet.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148840"/>
            <a:ext cx="658368" cy="658368"/>
          </a:xfrm>
          <a:prstGeom prst="ellipse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9288" y="2441448"/>
            <a:ext cx="1097280" cy="45720"/>
          </a:xfrm>
          <a:prstGeom prst="rect">
            <a:avLst/>
          </a:prstGeom>
          <a:solidFill>
            <a:srgbClr val="CC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3063240"/>
            <a:ext cx="2331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C2321"/>
                </a:solidFill>
                <a:latin typeface="Aptos"/>
              </a:rPr>
              <a:t>Zubereiten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566160"/>
            <a:ext cx="233172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8716B"/>
                </a:solidFill>
                <a:latin typeface="Aptos"/>
              </a:rPr>
              <a:t>Küche sieht die Bestellung und aktualisiert den Status.</a:t>
            </a:r>
          </a:p>
        </p:txBody>
      </p:sp>
      <p:sp>
        <p:nvSpPr>
          <p:cNvPr id="18" name="Oval 17"/>
          <p:cNvSpPr/>
          <p:nvPr/>
        </p:nvSpPr>
        <p:spPr>
          <a:xfrm>
            <a:off x="10195559" y="2148840"/>
            <a:ext cx="658368" cy="65836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3063240"/>
            <a:ext cx="2331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C2321"/>
                </a:solidFill>
                <a:latin typeface="Aptos"/>
              </a:rPr>
              <a:t>Servieren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3566160"/>
            <a:ext cx="233172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8716B"/>
                </a:solidFill>
                <a:latin typeface="Aptos"/>
              </a:rPr>
              <a:t>Kellner sieht „fertig“ und bringt die Bestellung zum Tisch.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074920"/>
            <a:ext cx="10332720" cy="685800"/>
          </a:xfrm>
          <a:prstGeom prst="roundRect">
            <a:avLst>
              <a:gd name="adj" fmla="val 12000"/>
            </a:avLst>
          </a:prstGeom>
          <a:solidFill>
            <a:srgbClr val="E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5276088"/>
            <a:ext cx="9784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275B49"/>
                </a:solidFill>
                <a:latin typeface="Aptos"/>
              </a:rPr>
              <a:t>Status-Beispiele: Neu  →  In Zubereitung  →  Fertig  →  Serviert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03 · NUTZERGRUPPEN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2321"/>
                </a:solidFill>
                <a:latin typeface="Aptos"/>
              </a:rPr>
              <a:t>Jede Rolle bekommt die passende Ansicht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68716B"/>
                </a:solidFill>
                <a:latin typeface="Aptos"/>
              </a:rPr>
              <a:t>Die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Oberfläche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zeigt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nur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 die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Informationen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 und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Funktionen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, die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im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Arbeitsalltag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gebraucht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68716B"/>
                </a:solidFill>
                <a:latin typeface="Aptos"/>
              </a:rPr>
              <a:t>werden</a:t>
            </a:r>
            <a:r>
              <a:rPr sz="1300" b="0" i="0" dirty="0">
                <a:solidFill>
                  <a:srgbClr val="68716B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8716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74720" cy="146304"/>
          </a:xfrm>
          <a:prstGeom prst="rect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C2321"/>
                </a:solidFill>
                <a:latin typeface="Aptos"/>
              </a:rPr>
              <a:t>Kellner:innen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E7D42"/>
                </a:solidFill>
                <a:latin typeface="Aptos"/>
              </a:rPr>
              <a:t>SMARTPHONE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80360" cy="1965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C2321"/>
                </a:solidFill>
                <a:latin typeface="Aptos"/>
              </a:rPr>
              <a:t>• Tisch auswählen
• Speisen &amp; Getränke hinzufügen
• Sonderwünsche notieren
• Bestellung absenden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47472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474720" cy="146304"/>
          </a:xfrm>
          <a:prstGeom prst="rect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176272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C2321"/>
                </a:solidFill>
                <a:latin typeface="Aptos"/>
              </a:rPr>
              <a:t>Küche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7004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TABLET / 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2880360" cy="1965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C2321"/>
                </a:solidFill>
                <a:latin typeface="Aptos"/>
              </a:rPr>
              <a:t>• Neue Bestellungen erkennen
• Gerichte in Bearbeitung setzen
• Fertige Bestellungen markieren
• Änderungen sehen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47472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474720" cy="146304"/>
          </a:xfrm>
          <a:prstGeom prst="rect">
            <a:avLst/>
          </a:prstGeom>
          <a:solidFill>
            <a:srgbClr val="1C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2176272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C2321"/>
                </a:solidFill>
                <a:latin typeface="Aptos"/>
              </a:rPr>
              <a:t>Betriebsleitung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7004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C2321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246120"/>
            <a:ext cx="2880360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1C2321"/>
                </a:solidFill>
                <a:latin typeface="Aptos"/>
              </a:rPr>
              <a:t>• Alle </a:t>
            </a:r>
            <a:r>
              <a:rPr sz="1400" b="0" i="0" dirty="0" err="1">
                <a:solidFill>
                  <a:srgbClr val="1C2321"/>
                </a:solidFill>
                <a:latin typeface="Aptos"/>
              </a:rPr>
              <a:t>Bestellungen</a:t>
            </a:r>
            <a:r>
              <a:rPr sz="1400" b="0" i="0" dirty="0">
                <a:solidFill>
                  <a:srgbClr val="1C2321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C2321"/>
                </a:solidFill>
                <a:latin typeface="Aptos"/>
              </a:rPr>
              <a:t>überblicken</a:t>
            </a:r>
            <a:r>
              <a:rPr sz="1400" b="0" i="0" dirty="0">
                <a:solidFill>
                  <a:srgbClr val="1C2321"/>
                </a:solidFill>
                <a:latin typeface="Aptos"/>
              </a:rPr>
              <a:t>
• </a:t>
            </a:r>
            <a:r>
              <a:rPr sz="1400" b="0" i="0" dirty="0" err="1">
                <a:solidFill>
                  <a:srgbClr val="1C2321"/>
                </a:solidFill>
                <a:latin typeface="Aptos"/>
              </a:rPr>
              <a:t>Speisekarte</a:t>
            </a:r>
            <a:r>
              <a:rPr sz="1400" b="0" i="0" dirty="0">
                <a:solidFill>
                  <a:srgbClr val="1C2321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C2321"/>
                </a:solidFill>
                <a:latin typeface="Aptos"/>
              </a:rPr>
              <a:t>verwalten</a:t>
            </a:r>
            <a:r>
              <a:rPr sz="1400" b="0" i="0" dirty="0">
                <a:solidFill>
                  <a:srgbClr val="1C2321"/>
                </a:solidFill>
                <a:latin typeface="Aptos"/>
              </a:rPr>
              <a:t>
• </a:t>
            </a:r>
            <a:r>
              <a:rPr sz="1400" b="0" i="0" dirty="0" err="1">
                <a:solidFill>
                  <a:srgbClr val="1C2321"/>
                </a:solidFill>
                <a:latin typeface="Aptos"/>
              </a:rPr>
              <a:t>Nutzer</a:t>
            </a:r>
            <a:r>
              <a:rPr sz="1400" b="0" i="0" dirty="0">
                <a:solidFill>
                  <a:srgbClr val="1C2321"/>
                </a:solidFill>
                <a:latin typeface="Aptos"/>
              </a:rPr>
              <a:t> und Rollen </a:t>
            </a:r>
            <a:r>
              <a:rPr sz="1400" b="0" i="0" dirty="0" err="1">
                <a:solidFill>
                  <a:srgbClr val="1C2321"/>
                </a:solidFill>
                <a:latin typeface="Aptos"/>
              </a:rPr>
              <a:t>verwalten</a:t>
            </a:r>
            <a:r>
              <a:rPr sz="1400" b="0" i="0" dirty="0">
                <a:solidFill>
                  <a:srgbClr val="1C2321"/>
                </a:solidFill>
                <a:latin typeface="Aptos"/>
              </a:rPr>
              <a:t>
• </a:t>
            </a:r>
            <a:r>
              <a:rPr lang="de-AT" sz="1400" b="0" i="0" dirty="0">
                <a:solidFill>
                  <a:srgbClr val="1C2321"/>
                </a:solidFill>
                <a:latin typeface="Aptos"/>
              </a:rPr>
              <a:t>Tagesumsatz</a:t>
            </a:r>
            <a:r>
              <a:rPr sz="1400" b="0" i="0" dirty="0">
                <a:solidFill>
                  <a:srgbClr val="1C2321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C2321"/>
                </a:solidFill>
                <a:latin typeface="Aptos"/>
              </a:rPr>
              <a:t>einsehen</a:t>
            </a:r>
            <a:endParaRPr sz="1400" b="0" i="0" dirty="0">
              <a:solidFill>
                <a:srgbClr val="1C232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75B49"/>
                </a:solidFill>
                <a:latin typeface="Aptos"/>
              </a:rPr>
              <a:t>05 · UMFANG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 dirty="0">
                <a:solidFill>
                  <a:srgbClr val="1C2321"/>
                </a:solidFill>
                <a:latin typeface="Aptos"/>
              </a:rPr>
              <a:t>Ein </a:t>
            </a:r>
            <a:r>
              <a:rPr sz="2700" b="1" i="0" dirty="0" err="1">
                <a:solidFill>
                  <a:srgbClr val="1C2321"/>
                </a:solidFill>
                <a:latin typeface="Aptos"/>
              </a:rPr>
              <a:t>realistisches</a:t>
            </a:r>
            <a:r>
              <a:rPr sz="2700" b="1" i="0" dirty="0">
                <a:solidFill>
                  <a:srgbClr val="1C2321"/>
                </a:solidFill>
                <a:latin typeface="Aptos"/>
              </a:rPr>
              <a:t> MVP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8716B"/>
                </a:solidFill>
                <a:latin typeface="Aptos"/>
              </a:rPr>
              <a:t>Zuerst die wichtigsten Abläufe zuverlässig umsetzen – Erweiterungen können später folgen.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8716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663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275B49"/>
                </a:solidFill>
                <a:latin typeface="Aptos"/>
              </a:rPr>
              <a:t>Im MVP enthalten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761488"/>
            <a:ext cx="109728" cy="10972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44348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Login und Rollen: Leitung, Service, Küche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236976"/>
            <a:ext cx="109728" cy="10972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172968"/>
            <a:ext cx="44348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Speisekarte mit Kategorien und Preisen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712464"/>
            <a:ext cx="109728" cy="10972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648456"/>
            <a:ext cx="44348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Tische und Bestellungen verwalten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187952"/>
            <a:ext cx="109728" cy="10972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123944"/>
            <a:ext cx="44348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Bestellung mit Positionen und Sonderwünschen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663440"/>
            <a:ext cx="109728" cy="10972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599432"/>
            <a:ext cx="44348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Küchenansicht mit Statusänderungen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5138928"/>
            <a:ext cx="109728" cy="109728"/>
          </a:xfrm>
          <a:prstGeom prst="ellipse">
            <a:avLst/>
          </a:prstGeom>
          <a:solidFill>
            <a:srgbClr val="27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074920"/>
            <a:ext cx="44348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1C2321"/>
                </a:solidFill>
                <a:latin typeface="Aptos"/>
              </a:rPr>
              <a:t>Übersicht</a:t>
            </a:r>
            <a:r>
              <a:rPr sz="1300" b="0" i="0" dirty="0">
                <a:solidFill>
                  <a:srgbClr val="1C2321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1C2321"/>
                </a:solidFill>
                <a:latin typeface="Aptos"/>
              </a:rPr>
              <a:t>aller</a:t>
            </a:r>
            <a:r>
              <a:rPr sz="1300" b="0" i="0" dirty="0">
                <a:solidFill>
                  <a:srgbClr val="1C2321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1C2321"/>
                </a:solidFill>
                <a:latin typeface="Aptos"/>
              </a:rPr>
              <a:t>offenen</a:t>
            </a:r>
            <a:r>
              <a:rPr sz="1300" b="0" i="0" dirty="0">
                <a:solidFill>
                  <a:srgbClr val="1C2321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1C2321"/>
                </a:solidFill>
                <a:latin typeface="Aptos"/>
              </a:rPr>
              <a:t>Bestellungen</a:t>
            </a:r>
            <a:endParaRPr sz="1300" b="0" i="0" dirty="0">
              <a:solidFill>
                <a:srgbClr val="1C232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ED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C2321"/>
                </a:solidFill>
                <a:latin typeface="Aptos"/>
              </a:rPr>
              <a:t>Mögliche Erweiterungen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788920"/>
            <a:ext cx="109728" cy="109728"/>
          </a:xfrm>
          <a:prstGeom prst="ellipse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2724912"/>
            <a:ext cx="4343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Umsatz- und Auslastungsstatistiken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319272"/>
            <a:ext cx="109728" cy="109728"/>
          </a:xfrm>
          <a:prstGeom prst="ellipse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3255264"/>
            <a:ext cx="4343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Lagerbestand und automatische Warnungen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849624"/>
            <a:ext cx="109728" cy="109728"/>
          </a:xfrm>
          <a:prstGeom prst="ellipse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785615"/>
            <a:ext cx="4343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C2321"/>
                </a:solidFill>
                <a:latin typeface="Aptos"/>
              </a:rPr>
              <a:t>Rechnung, Zahlung und Kassensystem-Anbindung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379976"/>
            <a:ext cx="109728" cy="109728"/>
          </a:xfrm>
          <a:prstGeom prst="ellipse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4315968"/>
            <a:ext cx="43434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 err="1">
                <a:solidFill>
                  <a:srgbClr val="1C2321"/>
                </a:solidFill>
                <a:latin typeface="Aptos"/>
              </a:rPr>
              <a:t>Allergene</a:t>
            </a:r>
            <a:r>
              <a:rPr sz="1300" b="0" i="0" dirty="0">
                <a:solidFill>
                  <a:srgbClr val="1C2321"/>
                </a:solidFill>
                <a:latin typeface="Aptos"/>
              </a:rPr>
              <a:t> und </a:t>
            </a:r>
            <a:r>
              <a:rPr sz="1300" b="0" i="0" dirty="0" err="1">
                <a:solidFill>
                  <a:srgbClr val="1C2321"/>
                </a:solidFill>
                <a:latin typeface="Aptos"/>
              </a:rPr>
              <a:t>mehrsprachige</a:t>
            </a:r>
            <a:r>
              <a:rPr sz="1300" b="0" i="0" dirty="0">
                <a:solidFill>
                  <a:srgbClr val="1C2321"/>
                </a:solidFill>
                <a:latin typeface="Aptos"/>
              </a:rPr>
              <a:t> </a:t>
            </a:r>
            <a:r>
              <a:rPr lang="de-AT" sz="1300" b="0" i="0" dirty="0">
                <a:solidFill>
                  <a:srgbClr val="1C2321"/>
                </a:solidFill>
                <a:latin typeface="Aptos"/>
              </a:rPr>
              <a:t>digitale </a:t>
            </a:r>
            <a:r>
              <a:rPr sz="1300" b="0" i="0" dirty="0" err="1">
                <a:solidFill>
                  <a:srgbClr val="1C2321"/>
                </a:solidFill>
                <a:latin typeface="Aptos"/>
              </a:rPr>
              <a:t>Speisekarte</a:t>
            </a:r>
            <a:endParaRPr sz="1300" b="0" i="0" dirty="0">
              <a:solidFill>
                <a:srgbClr val="1C2321"/>
              </a:solidFill>
              <a:latin typeface="Apto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583680" y="4910328"/>
            <a:ext cx="109728" cy="109728"/>
          </a:xfrm>
          <a:prstGeom prst="ellipse">
            <a:avLst/>
          </a:prstGeom>
          <a:solidFill>
            <a:srgbClr val="DE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4846320"/>
            <a:ext cx="43434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de-AT" sz="1300" b="0" i="0" dirty="0">
                <a:solidFill>
                  <a:srgbClr val="1C2321"/>
                </a:solidFill>
                <a:latin typeface="Aptos"/>
              </a:rPr>
              <a:t>…</a:t>
            </a:r>
            <a:endParaRPr sz="1300" b="0" i="0" dirty="0">
              <a:solidFill>
                <a:srgbClr val="1C2321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Macintosh PowerPoint</Application>
  <PresentationFormat>Breitbild</PresentationFormat>
  <Paragraphs>91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Wong Jien</cp:lastModifiedBy>
  <cp:revision>3</cp:revision>
  <dcterms:created xsi:type="dcterms:W3CDTF">2013-01-27T09:14:16Z</dcterms:created>
  <dcterms:modified xsi:type="dcterms:W3CDTF">2026-10-16T11:28:33Z</dcterms:modified>
  <cp:category/>
</cp:coreProperties>
</file>