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8014AB7-9FF6-4B87-860F-2FCF88558F81}"/>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7442D87E-9010-45C4-98E4-A9A3AF0CAB1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F8BC232-8826-4ADE-8C27-9A71EE81880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E13C159-EC1F-4F63-8459-E3B1EEC0B1D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5262E0F3-88D3-4A68-8667-343F695FFD8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411DCDC-F217-445B-8BA8-8CC52307CF2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AA1B1E1-9568-43ED-A003-E31FBBF440C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E042CB08-4D2B-4D5D-A354-B9F5BB6ACDA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7CAFE7A-58D2-4E09-A980-6E8DDA8B1C7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0CD011B-512A-4CD3-8368-26DC13A36EB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237"/>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CB8C529-F328-40D3-BB22-0986EA10D58A}"/>
              </a:ext>
            </a:extLst>
          </p:cNvPr>
          <p:cNvSpPr>
            <a:spLocks noGrp="1"/>
          </p:cNvSpPr>
          <p:nvPr/>
        </p:nvSpPr>
        <p:spPr>
          <a:xfrm>
            <a:off x="685800" y="666750"/>
            <a:ext cx="8572500" cy="476250"/>
          </a:xfrm>
          <a:prstGeom prst="rect">
            <a:avLst/>
          </a:prstGeom>
          <a:noFill/>
          <a:ln w="0">
            <a:noFill/>
            <a:prstDash val="solid"/>
          </a:ln>
        </p:spPr>
        <p:txBody>
          <a:bodyPr/>
          <a:lstStyle>
            <a:defPPr>
              <a:defRPr sz="1800" b="1">
                <a:solidFill>
                  <a:srgbClr val="A99BF4"/>
                </a:solidFill>
              </a:defRPr>
            </a:defPPr>
          </a:lstStyle>
          <a:p>
            <a:pPr>
              <a:defRPr sz="1800" b="1">
                <a:solidFill>
                  <a:srgbClr val="A99BF4"/>
                </a:solidFill>
              </a:defRPr>
            </a:pPr>
            <a:r>
              <a:rPr sz="1800" b="1">
                <a:solidFill>
                  <a:srgbClr val="A99BF4"/>
                </a:solidFill>
              </a:rPr>
              <a:t>GITHUB</a:t>
            </a:r>
          </a:p>
        </p:txBody>
      </p:sp>
      <p:sp>
        <p:nvSpPr>
          <p:cNvPr id="2" name="Rechteck 1">
            <a:extLst>
              <a:ext uri="{FF2B5EF4-FFF2-40B4-BE49-F238E27FC236}">
                <a16:creationId xmlns:a16="http://schemas.microsoft.com/office/drawing/2014/main" id="{AB23759D-D49F-4B55-9F89-E95C1422BE45}"/>
              </a:ext>
            </a:extLst>
          </p:cNvPr>
          <p:cNvSpPr>
            <a:spLocks noGrp="1"/>
          </p:cNvSpPr>
          <p:nvPr/>
        </p:nvSpPr>
        <p:spPr>
          <a:xfrm>
            <a:off x="685800" y="1762125"/>
            <a:ext cx="10477500" cy="2190750"/>
          </a:xfrm>
          <a:prstGeom prst="rect">
            <a:avLst/>
          </a:prstGeom>
          <a:noFill/>
          <a:ln w="0">
            <a:noFill/>
            <a:prstDash val="solid"/>
          </a:ln>
        </p:spPr>
        <p:txBody>
          <a:bodyPr/>
          <a:lstStyle>
            <a:defPPr>
              <a:defRPr sz="6600" b="1">
                <a:solidFill>
                  <a:srgbClr val="FFFFFF"/>
                </a:solidFill>
              </a:defRPr>
            </a:defPPr>
          </a:lstStyle>
          <a:p>
            <a:pPr>
              <a:defRPr sz="6600" b="1">
                <a:solidFill>
                  <a:srgbClr val="FFFFFF"/>
                </a:solidFill>
              </a:defRPr>
            </a:pPr>
            <a:r>
              <a:rPr sz="6600" b="1">
                <a:solidFill>
                  <a:srgbClr val="FFFFFF"/>
                </a:solidFill>
              </a:rPr>
              <a:t>GitHub</a:t>
            </a:r>
          </a:p>
          <a:p>
            <a:pPr>
              <a:defRPr sz="6600" b="1">
                <a:solidFill>
                  <a:srgbClr val="FFFFFF"/>
                </a:solidFill>
              </a:defRPr>
            </a:pPr>
            <a:r>
              <a:rPr sz="6600" b="1">
                <a:solidFill>
                  <a:srgbClr val="FFFFFF"/>
                </a:solidFill>
              </a:rPr>
              <a:t>verstehen</a:t>
            </a:r>
          </a:p>
        </p:txBody>
      </p:sp>
      <p:sp>
        <p:nvSpPr>
          <p:cNvPr id="3" name="Rechteck 2">
            <a:extLst>
              <a:ext uri="{FF2B5EF4-FFF2-40B4-BE49-F238E27FC236}">
                <a16:creationId xmlns:a16="http://schemas.microsoft.com/office/drawing/2014/main" id="{2ED35827-20DD-4C03-B28E-B88976559AAF}"/>
              </a:ext>
            </a:extLst>
          </p:cNvPr>
          <p:cNvSpPr>
            <a:spLocks noGrp="1"/>
          </p:cNvSpPr>
          <p:nvPr/>
        </p:nvSpPr>
        <p:spPr>
          <a:xfrm>
            <a:off x="723900" y="4333875"/>
            <a:ext cx="9525000" cy="619125"/>
          </a:xfrm>
          <a:prstGeom prst="rect">
            <a:avLst/>
          </a:prstGeom>
          <a:noFill/>
          <a:ln w="0">
            <a:noFill/>
            <a:prstDash val="solid"/>
          </a:ln>
        </p:spPr>
        <p:txBody>
          <a:bodyPr/>
          <a:lstStyle>
            <a:defPPr>
              <a:defRPr sz="2550" b="0">
                <a:solidFill>
                  <a:srgbClr val="D5DCEA"/>
                </a:solidFill>
              </a:defRPr>
            </a:defPPr>
          </a:lstStyle>
          <a:p>
            <a:pPr>
              <a:defRPr sz="2550" b="0">
                <a:solidFill>
                  <a:srgbClr val="D5DCEA"/>
                </a:solidFill>
              </a:defRPr>
            </a:pPr>
            <a:r>
              <a:rPr sz="2550" b="0">
                <a:solidFill>
                  <a:srgbClr val="D5DCEA"/>
                </a:solidFill>
              </a:rPr>
              <a:t>Projektmanagement im Team</a:t>
            </a:r>
          </a:p>
        </p:txBody>
      </p:sp>
      <p:sp>
        <p:nvSpPr>
          <p:cNvPr id="4" name="Rechteck 3">
            <a:extLst>
              <a:ext uri="{FF2B5EF4-FFF2-40B4-BE49-F238E27FC236}">
                <a16:creationId xmlns:a16="http://schemas.microsoft.com/office/drawing/2014/main" id="{555FB1ED-2048-4992-9D06-E00EE1AAE49E}"/>
              </a:ext>
            </a:extLst>
          </p:cNvPr>
          <p:cNvSpPr>
            <a:spLocks noGrp="1"/>
          </p:cNvSpPr>
          <p:nvPr/>
        </p:nvSpPr>
        <p:spPr>
          <a:xfrm>
            <a:off x="723900" y="5943600"/>
            <a:ext cx="6667500" cy="342900"/>
          </a:xfrm>
          <a:prstGeom prst="rect">
            <a:avLst/>
          </a:prstGeom>
          <a:noFill/>
          <a:ln w="0">
            <a:noFill/>
            <a:prstDash val="solid"/>
          </a:ln>
        </p:spPr>
        <p:txBody>
          <a:bodyPr/>
          <a:lstStyle>
            <a:defPPr>
              <a:defRPr sz="1650" b="0">
                <a:solidFill>
                  <a:srgbClr val="A99BF4"/>
                </a:solidFill>
              </a:defRPr>
            </a:defPPr>
          </a:lstStyle>
          <a:p>
            <a:pPr>
              <a:defRPr sz="1650" b="0">
                <a:solidFill>
                  <a:srgbClr val="A99BF4"/>
                </a:solidFill>
              </a:defRPr>
            </a:pPr>
            <a:r>
              <a:rPr lang="de-AT" sz="1650" b="0" dirty="0">
                <a:solidFill>
                  <a:srgbClr val="A99BF4"/>
                </a:solidFill>
              </a:rPr>
              <a:t>Gruppe 04</a:t>
            </a:r>
            <a:endParaRPr sz="1650" b="0" dirty="0">
              <a:solidFill>
                <a:srgbClr val="A99BF4"/>
              </a:solidFill>
            </a:endParaRPr>
          </a:p>
        </p:txBody>
      </p:sp>
    </p:spTree>
    <p:extLst>
      <p:ext uri="{BB962C8B-B14F-4D97-AF65-F5344CB8AC3E}">
        <p14:creationId xmlns:p14="http://schemas.microsoft.com/office/powerpoint/2010/main" val="219952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6301BF0A-F6C5-4A67-9C40-47CB9DFFAB9F}"/>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6554C0"/>
                </a:solidFill>
              </a:defRPr>
            </a:defPPr>
          </a:lstStyle>
          <a:p>
            <a:pPr>
              <a:defRPr sz="1200" b="1">
                <a:solidFill>
                  <a:srgbClr val="6554C0"/>
                </a:solidFill>
              </a:defRPr>
            </a:pPr>
            <a:r>
              <a:rPr sz="1200" b="1">
                <a:solidFill>
                  <a:srgbClr val="6554C0"/>
                </a:solidFill>
              </a:rPr>
              <a:t>REPOSITORY</a:t>
            </a:r>
          </a:p>
        </p:txBody>
      </p:sp>
      <p:sp>
        <p:nvSpPr>
          <p:cNvPr id="2" name="Rechteck 1">
            <a:extLst>
              <a:ext uri="{FF2B5EF4-FFF2-40B4-BE49-F238E27FC236}">
                <a16:creationId xmlns:a16="http://schemas.microsoft.com/office/drawing/2014/main" id="{F7501DD2-8698-42AB-A1D5-E73CE80AF5D3}"/>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02 / 22</a:t>
            </a:r>
          </a:p>
        </p:txBody>
      </p:sp>
      <p:sp>
        <p:nvSpPr>
          <p:cNvPr id="3" name="Rechteck 2">
            <a:extLst>
              <a:ext uri="{FF2B5EF4-FFF2-40B4-BE49-F238E27FC236}">
                <a16:creationId xmlns:a16="http://schemas.microsoft.com/office/drawing/2014/main" id="{DC96001A-5899-41A6-8689-A7310915B57F}"/>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Repository</a:t>
            </a:r>
          </a:p>
        </p:txBody>
      </p:sp>
      <p:sp>
        <p:nvSpPr>
          <p:cNvPr id="4" name="Rechteck 3">
            <a:extLst>
              <a:ext uri="{FF2B5EF4-FFF2-40B4-BE49-F238E27FC236}">
                <a16:creationId xmlns:a16="http://schemas.microsoft.com/office/drawing/2014/main" id="{1DAE0998-2401-42FD-9158-C262076F628D}"/>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Der gemeinsame Speicherort</a:t>
            </a:r>
          </a:p>
        </p:txBody>
      </p:sp>
      <p:sp>
        <p:nvSpPr>
          <p:cNvPr id="5" name="Rechteck 4">
            <a:extLst>
              <a:ext uri="{FF2B5EF4-FFF2-40B4-BE49-F238E27FC236}">
                <a16:creationId xmlns:a16="http://schemas.microsoft.com/office/drawing/2014/main" id="{23AACEBE-C0D0-422B-89BB-B85A7D13119A}"/>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6554C0"/>
                </a:solidFill>
              </a:defRPr>
            </a:defPPr>
          </a:lstStyle>
          <a:p>
            <a:pPr>
              <a:defRPr sz="1800" b="1">
                <a:solidFill>
                  <a:srgbClr val="6554C0"/>
                </a:solidFill>
              </a:defRPr>
            </a:pPr>
            <a:r>
              <a:rPr sz="1800" b="1">
                <a:solidFill>
                  <a:srgbClr val="6554C0"/>
                </a:solidFill>
              </a:rPr>
              <a:t>Was ist das?</a:t>
            </a:r>
          </a:p>
        </p:txBody>
      </p:sp>
      <p:sp>
        <p:nvSpPr>
          <p:cNvPr id="6" name="Rechteck 5">
            <a:extLst>
              <a:ext uri="{FF2B5EF4-FFF2-40B4-BE49-F238E27FC236}">
                <a16:creationId xmlns:a16="http://schemas.microsoft.com/office/drawing/2014/main" id="{7EC42EA6-1A57-46A7-A6A8-457D67F439BA}"/>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Ein Repository enthält die Dateien eines Projekts und ihre Versionsgeschichte. Auf GitHub gehören dazu auch Bereiche für Issues und Pull Requests. Es kann öffentlich oder privat sein.</a:t>
            </a:r>
          </a:p>
        </p:txBody>
      </p:sp>
      <p:sp>
        <p:nvSpPr>
          <p:cNvPr id="7" name="Rechteck 6">
            <a:extLst>
              <a:ext uri="{FF2B5EF4-FFF2-40B4-BE49-F238E27FC236}">
                <a16:creationId xmlns:a16="http://schemas.microsoft.com/office/drawing/2014/main" id="{9E5C064B-FC69-4544-8761-A4DDEFC12CD6}"/>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6554C0"/>
                </a:solidFill>
              </a:defRPr>
            </a:defPPr>
          </a:lstStyle>
          <a:p>
            <a:pPr>
              <a:defRPr sz="1800" b="1">
                <a:solidFill>
                  <a:srgbClr val="6554C0"/>
                </a:solidFill>
              </a:defRPr>
            </a:pPr>
            <a:r>
              <a:rPr sz="1800" b="1">
                <a:solidFill>
                  <a:srgbClr val="6554C0"/>
                </a:solidFill>
              </a:rPr>
              <a:t>Wofür braucht man es?</a:t>
            </a:r>
          </a:p>
        </p:txBody>
      </p:sp>
      <p:sp>
        <p:nvSpPr>
          <p:cNvPr id="8" name="Rechteck 7">
            <a:extLst>
              <a:ext uri="{FF2B5EF4-FFF2-40B4-BE49-F238E27FC236}">
                <a16:creationId xmlns:a16="http://schemas.microsoft.com/office/drawing/2014/main" id="{1F56FF1A-EC58-481A-8E2E-16412A9745ED}"/>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Es ist der gemeinsame Speicherort für die Dateien eines Projekts. Dort werden Änderungen nachvollzogen und Aufgaben oder Fehler als Issues festgehalten und beschrieben.</a:t>
            </a:r>
          </a:p>
        </p:txBody>
      </p:sp>
      <p:sp>
        <p:nvSpPr>
          <p:cNvPr id="9" name="Rechteck 8">
            <a:extLst>
              <a:ext uri="{FF2B5EF4-FFF2-40B4-BE49-F238E27FC236}">
                <a16:creationId xmlns:a16="http://schemas.microsoft.com/office/drawing/2014/main" id="{007E5A6D-EE0C-4DC7-A8DB-1C5595F07B03}"/>
              </a:ext>
            </a:extLst>
          </p:cNvPr>
          <p:cNvSpPr>
            <a:spLocks noGrp="1"/>
          </p:cNvSpPr>
          <p:nvPr/>
        </p:nvSpPr>
        <p:spPr>
          <a:xfrm>
            <a:off x="628650" y="5610225"/>
            <a:ext cx="10668000" cy="523875"/>
          </a:xfrm>
          <a:prstGeom prst="rect">
            <a:avLst/>
          </a:prstGeom>
          <a:noFill/>
          <a:ln w="0">
            <a:noFill/>
            <a:prstDash val="solid"/>
          </a:ln>
        </p:spPr>
        <p:txBody>
          <a:bodyPr/>
          <a:lstStyle>
            <a:defPPr>
              <a:defRPr sz="1725" b="1">
                <a:solidFill>
                  <a:srgbClr val="6554C0"/>
                </a:solidFill>
              </a:defRPr>
            </a:defPPr>
          </a:lstStyle>
          <a:p>
            <a:pPr>
              <a:defRPr sz="1725" b="1">
                <a:solidFill>
                  <a:srgbClr val="6554C0"/>
                </a:solidFill>
              </a:defRPr>
            </a:pPr>
            <a:endParaRPr sz="1725" b="1" dirty="0">
              <a:solidFill>
                <a:srgbClr val="6554C0"/>
              </a:solidFill>
            </a:endParaRPr>
          </a:p>
        </p:txBody>
      </p:sp>
    </p:spTree>
    <p:extLst>
      <p:ext uri="{BB962C8B-B14F-4D97-AF65-F5344CB8AC3E}">
        <p14:creationId xmlns:p14="http://schemas.microsoft.com/office/powerpoint/2010/main" val="799043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7377F3D4-7B6E-48FA-8D22-2DD39DEE2ED8}"/>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6554C0"/>
                </a:solidFill>
              </a:defRPr>
            </a:defPPr>
          </a:lstStyle>
          <a:p>
            <a:pPr>
              <a:defRPr sz="1200" b="1">
                <a:solidFill>
                  <a:srgbClr val="6554C0"/>
                </a:solidFill>
              </a:defRPr>
            </a:pPr>
            <a:r>
              <a:rPr sz="1200" b="1">
                <a:solidFill>
                  <a:srgbClr val="6554C0"/>
                </a:solidFill>
              </a:rPr>
              <a:t>REPOSITORY</a:t>
            </a:r>
          </a:p>
        </p:txBody>
      </p:sp>
      <p:sp>
        <p:nvSpPr>
          <p:cNvPr id="2" name="Rechteck 1">
            <a:extLst>
              <a:ext uri="{FF2B5EF4-FFF2-40B4-BE49-F238E27FC236}">
                <a16:creationId xmlns:a16="http://schemas.microsoft.com/office/drawing/2014/main" id="{6252DC29-FE08-4878-B02E-E501041A3A5C}"/>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03 / 22</a:t>
            </a:r>
          </a:p>
        </p:txBody>
      </p:sp>
      <p:sp>
        <p:nvSpPr>
          <p:cNvPr id="3" name="Rechteck 2">
            <a:extLst>
              <a:ext uri="{FF2B5EF4-FFF2-40B4-BE49-F238E27FC236}">
                <a16:creationId xmlns:a16="http://schemas.microsoft.com/office/drawing/2014/main" id="{87B48874-75D7-424D-8BEE-7E030A7D9495}"/>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Issues</a:t>
            </a:r>
          </a:p>
        </p:txBody>
      </p:sp>
      <p:sp>
        <p:nvSpPr>
          <p:cNvPr id="4" name="Rechteck 3">
            <a:extLst>
              <a:ext uri="{FF2B5EF4-FFF2-40B4-BE49-F238E27FC236}">
                <a16:creationId xmlns:a16="http://schemas.microsoft.com/office/drawing/2014/main" id="{5AD31BEF-1E06-47FB-92BD-F78FC5968DE2}"/>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Aufgaben und Probleme festhalten</a:t>
            </a:r>
          </a:p>
        </p:txBody>
      </p:sp>
      <p:sp>
        <p:nvSpPr>
          <p:cNvPr id="5" name="Rechteck 4">
            <a:extLst>
              <a:ext uri="{FF2B5EF4-FFF2-40B4-BE49-F238E27FC236}">
                <a16:creationId xmlns:a16="http://schemas.microsoft.com/office/drawing/2014/main" id="{95A14E13-C13C-4E01-9361-400A78B1750B}"/>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6554C0"/>
                </a:solidFill>
              </a:defRPr>
            </a:defPPr>
          </a:lstStyle>
          <a:p>
            <a:pPr>
              <a:defRPr sz="1800" b="1">
                <a:solidFill>
                  <a:srgbClr val="6554C0"/>
                </a:solidFill>
              </a:defRPr>
            </a:pPr>
            <a:r>
              <a:rPr sz="1800" b="1">
                <a:solidFill>
                  <a:srgbClr val="6554C0"/>
                </a:solidFill>
              </a:rPr>
              <a:t>Was ist das?</a:t>
            </a:r>
          </a:p>
        </p:txBody>
      </p:sp>
      <p:sp>
        <p:nvSpPr>
          <p:cNvPr id="6" name="Rechteck 5">
            <a:extLst>
              <a:ext uri="{FF2B5EF4-FFF2-40B4-BE49-F238E27FC236}">
                <a16:creationId xmlns:a16="http://schemas.microsoft.com/office/drawing/2014/main" id="{315C3F44-B1CE-4AE9-876C-616261AFC52B}"/>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Ein Issue ist ein Eintrag in einem Repository für eine Aufgabe, einen Fehler oder eine gewünschte Funktion. Es hat eine Nummer, eine Beschreibung und einen Diskussionsverlauf.</a:t>
            </a:r>
          </a:p>
        </p:txBody>
      </p:sp>
      <p:sp>
        <p:nvSpPr>
          <p:cNvPr id="7" name="Rechteck 6">
            <a:extLst>
              <a:ext uri="{FF2B5EF4-FFF2-40B4-BE49-F238E27FC236}">
                <a16:creationId xmlns:a16="http://schemas.microsoft.com/office/drawing/2014/main" id="{069066C3-9373-4B34-9865-509C899C5A35}"/>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6554C0"/>
                </a:solidFill>
              </a:defRPr>
            </a:defPPr>
          </a:lstStyle>
          <a:p>
            <a:pPr>
              <a:defRPr sz="1800" b="1">
                <a:solidFill>
                  <a:srgbClr val="6554C0"/>
                </a:solidFill>
              </a:defRPr>
            </a:pPr>
            <a:r>
              <a:rPr sz="1800" b="1">
                <a:solidFill>
                  <a:srgbClr val="6554C0"/>
                </a:solidFill>
              </a:rPr>
              <a:t>Wofür braucht man es?</a:t>
            </a:r>
          </a:p>
        </p:txBody>
      </p:sp>
      <p:sp>
        <p:nvSpPr>
          <p:cNvPr id="8" name="Rechteck 7">
            <a:extLst>
              <a:ext uri="{FF2B5EF4-FFF2-40B4-BE49-F238E27FC236}">
                <a16:creationId xmlns:a16="http://schemas.microsoft.com/office/drawing/2014/main" id="{A738CF76-A5B2-4945-A8A4-3474AB40240D}"/>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Das Team hält fest, was zu tun ist und woran man die Erledigung erkennt. Verantwortliche, Labels und Verknüpfungen machen die Arbeit nachvollziehbar.</a:t>
            </a:r>
          </a:p>
        </p:txBody>
      </p:sp>
    </p:spTree>
    <p:extLst>
      <p:ext uri="{BB962C8B-B14F-4D97-AF65-F5344CB8AC3E}">
        <p14:creationId xmlns:p14="http://schemas.microsoft.com/office/powerpoint/2010/main" val="527738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8CF043D6-D08A-4866-A3B4-59F8A6CDB087}"/>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6554C0"/>
                </a:solidFill>
              </a:defRPr>
            </a:defPPr>
          </a:lstStyle>
          <a:p>
            <a:pPr>
              <a:defRPr sz="1200" b="1">
                <a:solidFill>
                  <a:srgbClr val="6554C0"/>
                </a:solidFill>
              </a:defRPr>
            </a:pPr>
            <a:r>
              <a:rPr sz="1200" b="1">
                <a:solidFill>
                  <a:srgbClr val="6554C0"/>
                </a:solidFill>
              </a:rPr>
              <a:t>REPOSITORY</a:t>
            </a:r>
          </a:p>
        </p:txBody>
      </p:sp>
      <p:sp>
        <p:nvSpPr>
          <p:cNvPr id="2" name="Rechteck 1">
            <a:extLst>
              <a:ext uri="{FF2B5EF4-FFF2-40B4-BE49-F238E27FC236}">
                <a16:creationId xmlns:a16="http://schemas.microsoft.com/office/drawing/2014/main" id="{297023A5-EA66-4CAC-899A-FAE7DC787AAB}"/>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04 / 22</a:t>
            </a:r>
          </a:p>
        </p:txBody>
      </p:sp>
      <p:sp>
        <p:nvSpPr>
          <p:cNvPr id="3" name="Rechteck 2">
            <a:extLst>
              <a:ext uri="{FF2B5EF4-FFF2-40B4-BE49-F238E27FC236}">
                <a16:creationId xmlns:a16="http://schemas.microsoft.com/office/drawing/2014/main" id="{69972042-0807-4B0B-B4B4-02C5E7099C1C}"/>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Labels</a:t>
            </a:r>
          </a:p>
        </p:txBody>
      </p:sp>
      <p:sp>
        <p:nvSpPr>
          <p:cNvPr id="4" name="Rechteck 3">
            <a:extLst>
              <a:ext uri="{FF2B5EF4-FFF2-40B4-BE49-F238E27FC236}">
                <a16:creationId xmlns:a16="http://schemas.microsoft.com/office/drawing/2014/main" id="{367FBFDB-4843-47A2-91AB-64442F7A4706}"/>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Arbeit mit Schlagwörtern einordnen</a:t>
            </a:r>
          </a:p>
        </p:txBody>
      </p:sp>
      <p:sp>
        <p:nvSpPr>
          <p:cNvPr id="5" name="Rechteck 4">
            <a:extLst>
              <a:ext uri="{FF2B5EF4-FFF2-40B4-BE49-F238E27FC236}">
                <a16:creationId xmlns:a16="http://schemas.microsoft.com/office/drawing/2014/main" id="{3E329FAD-F737-4FDF-BACB-D411D5C2098D}"/>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6554C0"/>
                </a:solidFill>
              </a:defRPr>
            </a:defPPr>
          </a:lstStyle>
          <a:p>
            <a:pPr>
              <a:defRPr sz="1800" b="1">
                <a:solidFill>
                  <a:srgbClr val="6554C0"/>
                </a:solidFill>
              </a:defRPr>
            </a:pPr>
            <a:r>
              <a:rPr sz="1800" b="1">
                <a:solidFill>
                  <a:srgbClr val="6554C0"/>
                </a:solidFill>
              </a:rPr>
              <a:t>Was ist das?</a:t>
            </a:r>
          </a:p>
        </p:txBody>
      </p:sp>
      <p:sp>
        <p:nvSpPr>
          <p:cNvPr id="6" name="Rechteck 5">
            <a:extLst>
              <a:ext uri="{FF2B5EF4-FFF2-40B4-BE49-F238E27FC236}">
                <a16:creationId xmlns:a16="http://schemas.microsoft.com/office/drawing/2014/main" id="{EEB40D8B-87FA-4004-94DD-2881D80BD0DF}"/>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Labels sind farbige Schlagwörter für Issues. Ein Element kann mehrere Labels haben. Die Labels gehören zum jeweiligen Repository.</a:t>
            </a:r>
          </a:p>
        </p:txBody>
      </p:sp>
      <p:sp>
        <p:nvSpPr>
          <p:cNvPr id="7" name="Rechteck 6">
            <a:extLst>
              <a:ext uri="{FF2B5EF4-FFF2-40B4-BE49-F238E27FC236}">
                <a16:creationId xmlns:a16="http://schemas.microsoft.com/office/drawing/2014/main" id="{A739A1F0-8BCF-479F-A360-21CD174E3EB3}"/>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6554C0"/>
                </a:solidFill>
              </a:defRPr>
            </a:defPPr>
          </a:lstStyle>
          <a:p>
            <a:pPr>
              <a:defRPr sz="1800" b="1">
                <a:solidFill>
                  <a:srgbClr val="6554C0"/>
                </a:solidFill>
              </a:defRPr>
            </a:pPr>
            <a:r>
              <a:rPr sz="1800" b="1">
                <a:solidFill>
                  <a:srgbClr val="6554C0"/>
                </a:solidFill>
              </a:rPr>
              <a:t>Wofür braucht man es?</a:t>
            </a:r>
          </a:p>
        </p:txBody>
      </p:sp>
      <p:sp>
        <p:nvSpPr>
          <p:cNvPr id="8" name="Rechteck 7">
            <a:extLst>
              <a:ext uri="{FF2B5EF4-FFF2-40B4-BE49-F238E27FC236}">
                <a16:creationId xmlns:a16="http://schemas.microsoft.com/office/drawing/2014/main" id="{354425A5-EB77-4C37-8FD1-BCE189338650}"/>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Das Team erkennt Themen und Arten von Arbeit schneller und kann danach filtern. Einheitliche Namen verhindern, dass ähnliche Aufgaben unterschiedlich bezeichnet werden.</a:t>
            </a:r>
          </a:p>
        </p:txBody>
      </p:sp>
      <p:sp>
        <p:nvSpPr>
          <p:cNvPr id="9" name="Rechteck 8">
            <a:extLst>
              <a:ext uri="{FF2B5EF4-FFF2-40B4-BE49-F238E27FC236}">
                <a16:creationId xmlns:a16="http://schemas.microsoft.com/office/drawing/2014/main" id="{C07C2A30-F5F5-4DBF-8563-B08394E5BF50}"/>
              </a:ext>
            </a:extLst>
          </p:cNvPr>
          <p:cNvSpPr>
            <a:spLocks noGrp="1"/>
          </p:cNvSpPr>
          <p:nvPr/>
        </p:nvSpPr>
        <p:spPr>
          <a:xfrm>
            <a:off x="628650" y="5610225"/>
            <a:ext cx="10668000" cy="523875"/>
          </a:xfrm>
          <a:prstGeom prst="rect">
            <a:avLst/>
          </a:prstGeom>
          <a:noFill/>
          <a:ln w="0">
            <a:noFill/>
            <a:prstDash val="solid"/>
          </a:ln>
        </p:spPr>
        <p:txBody>
          <a:bodyPr/>
          <a:lstStyle>
            <a:defPPr>
              <a:defRPr sz="1725" b="1">
                <a:solidFill>
                  <a:srgbClr val="6554C0"/>
                </a:solidFill>
              </a:defRPr>
            </a:defPPr>
          </a:lstStyle>
          <a:p>
            <a:pPr>
              <a:defRPr sz="1725" b="1">
                <a:solidFill>
                  <a:srgbClr val="6554C0"/>
                </a:solidFill>
              </a:defRPr>
            </a:pPr>
            <a:r>
              <a:rPr sz="1725" b="1">
                <a:solidFill>
                  <a:srgbClr val="6554C0"/>
                </a:solidFill>
              </a:rPr>
              <a:t>Beispiele: bug, documentation und enhancement.</a:t>
            </a:r>
          </a:p>
        </p:txBody>
      </p:sp>
    </p:spTree>
    <p:extLst>
      <p:ext uri="{BB962C8B-B14F-4D97-AF65-F5344CB8AC3E}">
        <p14:creationId xmlns:p14="http://schemas.microsoft.com/office/powerpoint/2010/main" val="632490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57E6B22C-F904-47E1-9039-7AF6C63159C5}"/>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6554C0"/>
                </a:solidFill>
              </a:defRPr>
            </a:defPPr>
          </a:lstStyle>
          <a:p>
            <a:pPr>
              <a:defRPr sz="1200" b="1">
                <a:solidFill>
                  <a:srgbClr val="6554C0"/>
                </a:solidFill>
              </a:defRPr>
            </a:pPr>
            <a:r>
              <a:rPr sz="1200" b="1">
                <a:solidFill>
                  <a:srgbClr val="6554C0"/>
                </a:solidFill>
              </a:rPr>
              <a:t>REPOSITORY</a:t>
            </a:r>
          </a:p>
        </p:txBody>
      </p:sp>
      <p:sp>
        <p:nvSpPr>
          <p:cNvPr id="2" name="Rechteck 1">
            <a:extLst>
              <a:ext uri="{FF2B5EF4-FFF2-40B4-BE49-F238E27FC236}">
                <a16:creationId xmlns:a16="http://schemas.microsoft.com/office/drawing/2014/main" id="{A18C7497-79B4-4750-AEF4-3EB2326499D0}"/>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05 / 22</a:t>
            </a:r>
          </a:p>
        </p:txBody>
      </p:sp>
      <p:sp>
        <p:nvSpPr>
          <p:cNvPr id="3" name="Rechteck 2">
            <a:extLst>
              <a:ext uri="{FF2B5EF4-FFF2-40B4-BE49-F238E27FC236}">
                <a16:creationId xmlns:a16="http://schemas.microsoft.com/office/drawing/2014/main" id="{57F08C3B-13C8-4A9D-B8B9-097BFA2D6C8C}"/>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Bugs</a:t>
            </a:r>
          </a:p>
        </p:txBody>
      </p:sp>
      <p:sp>
        <p:nvSpPr>
          <p:cNvPr id="4" name="Rechteck 3">
            <a:extLst>
              <a:ext uri="{FF2B5EF4-FFF2-40B4-BE49-F238E27FC236}">
                <a16:creationId xmlns:a16="http://schemas.microsoft.com/office/drawing/2014/main" id="{4280C184-AA2A-4941-B383-3DAE9CA7F98D}"/>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Fehler im tatsächlichen Verhalten</a:t>
            </a:r>
          </a:p>
        </p:txBody>
      </p:sp>
      <p:sp>
        <p:nvSpPr>
          <p:cNvPr id="5" name="Rechteck 4">
            <a:extLst>
              <a:ext uri="{FF2B5EF4-FFF2-40B4-BE49-F238E27FC236}">
                <a16:creationId xmlns:a16="http://schemas.microsoft.com/office/drawing/2014/main" id="{0E8D8C1A-8FA0-4258-A9C2-626D3B5138EA}"/>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6554C0"/>
                </a:solidFill>
              </a:defRPr>
            </a:defPPr>
          </a:lstStyle>
          <a:p>
            <a:pPr>
              <a:defRPr sz="1800" b="1">
                <a:solidFill>
                  <a:srgbClr val="6554C0"/>
                </a:solidFill>
              </a:defRPr>
            </a:pPr>
            <a:r>
              <a:rPr sz="1800" b="1">
                <a:solidFill>
                  <a:srgbClr val="6554C0"/>
                </a:solidFill>
              </a:rPr>
              <a:t>Was ist das?</a:t>
            </a:r>
          </a:p>
        </p:txBody>
      </p:sp>
      <p:sp>
        <p:nvSpPr>
          <p:cNvPr id="6" name="Rechteck 5">
            <a:extLst>
              <a:ext uri="{FF2B5EF4-FFF2-40B4-BE49-F238E27FC236}">
                <a16:creationId xmlns:a16="http://schemas.microsoft.com/office/drawing/2014/main" id="{13859AB2-544E-469A-9158-DAEB27B0E8E8}"/>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Ein Bug ist ein Fehler in der Software: Das tatsächliche Verhalten weicht vom erwarteten Verhalten ab. GitHub kann ihn als Issue mit dem Label bug erfassen.</a:t>
            </a:r>
          </a:p>
        </p:txBody>
      </p:sp>
      <p:sp>
        <p:nvSpPr>
          <p:cNvPr id="7" name="Rechteck 6">
            <a:extLst>
              <a:ext uri="{FF2B5EF4-FFF2-40B4-BE49-F238E27FC236}">
                <a16:creationId xmlns:a16="http://schemas.microsoft.com/office/drawing/2014/main" id="{230FE2FE-FF75-4CCF-A0A5-D95BFB738701}"/>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6554C0"/>
                </a:solidFill>
              </a:defRPr>
            </a:defPPr>
          </a:lstStyle>
          <a:p>
            <a:pPr>
              <a:defRPr sz="1800" b="1">
                <a:solidFill>
                  <a:srgbClr val="6554C0"/>
                </a:solidFill>
              </a:defRPr>
            </a:pPr>
            <a:r>
              <a:rPr sz="1800" b="1">
                <a:solidFill>
                  <a:srgbClr val="6554C0"/>
                </a:solidFill>
              </a:rPr>
              <a:t>Wofür braucht man es?</a:t>
            </a:r>
          </a:p>
        </p:txBody>
      </p:sp>
      <p:sp>
        <p:nvSpPr>
          <p:cNvPr id="8" name="Rechteck 7">
            <a:extLst>
              <a:ext uri="{FF2B5EF4-FFF2-40B4-BE49-F238E27FC236}">
                <a16:creationId xmlns:a16="http://schemas.microsoft.com/office/drawing/2014/main" id="{FA0163E5-967E-426F-9D1B-EF46B0A3F501}"/>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Eine genaue Fehlermeldung hilft dem Team, den Fehler nachzustellen, seine Auswirkungen einzuschätzen und die Korrektur zu überprüfen.</a:t>
            </a:r>
          </a:p>
        </p:txBody>
      </p:sp>
    </p:spTree>
    <p:extLst>
      <p:ext uri="{BB962C8B-B14F-4D97-AF65-F5344CB8AC3E}">
        <p14:creationId xmlns:p14="http://schemas.microsoft.com/office/powerpoint/2010/main" val="254200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B8C747B2-1138-40F0-B260-77A078C1590E}"/>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6554C0"/>
                </a:solidFill>
              </a:defRPr>
            </a:defPPr>
          </a:lstStyle>
          <a:p>
            <a:pPr>
              <a:defRPr sz="1200" b="1">
                <a:solidFill>
                  <a:srgbClr val="6554C0"/>
                </a:solidFill>
              </a:defRPr>
            </a:pPr>
            <a:r>
              <a:rPr sz="1200" b="1">
                <a:solidFill>
                  <a:srgbClr val="6554C0"/>
                </a:solidFill>
              </a:rPr>
              <a:t>REPOSITORY</a:t>
            </a:r>
          </a:p>
        </p:txBody>
      </p:sp>
      <p:sp>
        <p:nvSpPr>
          <p:cNvPr id="2" name="Rechteck 1">
            <a:extLst>
              <a:ext uri="{FF2B5EF4-FFF2-40B4-BE49-F238E27FC236}">
                <a16:creationId xmlns:a16="http://schemas.microsoft.com/office/drawing/2014/main" id="{E2D31D4D-9B37-433A-BFCB-F81CD3E860E3}"/>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06 / 22</a:t>
            </a:r>
          </a:p>
        </p:txBody>
      </p:sp>
      <p:sp>
        <p:nvSpPr>
          <p:cNvPr id="3" name="Rechteck 2">
            <a:extLst>
              <a:ext uri="{FF2B5EF4-FFF2-40B4-BE49-F238E27FC236}">
                <a16:creationId xmlns:a16="http://schemas.microsoft.com/office/drawing/2014/main" id="{81A9976A-478F-4813-BC0C-A510A5FE908E}"/>
              </a:ext>
            </a:extLst>
          </p:cNvPr>
          <p:cNvSpPr>
            <a:spLocks noGrp="1"/>
          </p:cNvSpPr>
          <p:nvPr/>
        </p:nvSpPr>
        <p:spPr>
          <a:xfrm>
            <a:off x="609600" y="809625"/>
            <a:ext cx="10953750" cy="685800"/>
          </a:xfrm>
          <a:prstGeom prst="rect">
            <a:avLst/>
          </a:prstGeom>
          <a:noFill/>
          <a:ln w="0">
            <a:noFill/>
            <a:prstDash val="solid"/>
          </a:ln>
        </p:spPr>
        <p:txBody>
          <a:bodyPr/>
          <a:lstStyle>
            <a:defPPr>
              <a:defRPr sz="3600" b="1">
                <a:solidFill>
                  <a:srgbClr val="172335"/>
                </a:solidFill>
              </a:defRPr>
            </a:defPPr>
          </a:lstStyle>
          <a:p>
            <a:pPr>
              <a:defRPr sz="3600" b="1">
                <a:solidFill>
                  <a:srgbClr val="172335"/>
                </a:solidFill>
              </a:defRPr>
            </a:pPr>
            <a:r>
              <a:rPr lang="de-AT" sz="3600" b="1" dirty="0" err="1">
                <a:solidFill>
                  <a:srgbClr val="172335"/>
                </a:solidFill>
              </a:rPr>
              <a:t>Issues</a:t>
            </a:r>
            <a:endParaRPr sz="3600" b="1" dirty="0">
              <a:solidFill>
                <a:srgbClr val="172335"/>
              </a:solidFill>
            </a:endParaRPr>
          </a:p>
        </p:txBody>
      </p:sp>
      <p:pic>
        <p:nvPicPr>
          <p:cNvPr id="5" name="Grafik 4">
            <a:extLst>
              <a:ext uri="{FF2B5EF4-FFF2-40B4-BE49-F238E27FC236}">
                <a16:creationId xmlns:a16="http://schemas.microsoft.com/office/drawing/2014/main" id="{FF8B5784-8FE9-4553-A8E1-91E272108A1D}"/>
              </a:ext>
            </a:extLst>
          </p:cNvPr>
          <p:cNvPicPr>
            <a:picLocks noChangeAspect="1"/>
          </p:cNvPicPr>
          <p:nvPr/>
        </p:nvPicPr>
        <p:blipFill>
          <a:blip r:embed="rId3"/>
          <a:stretch/>
        </p:blipFill>
        <p:spPr>
          <a:xfrm>
            <a:off x="500743" y="2095161"/>
            <a:ext cx="10972800" cy="3219789"/>
          </a:xfrm>
          <a:prstGeom prst="rect">
            <a:avLst/>
          </a:prstGeom>
        </p:spPr>
      </p:pic>
    </p:spTree>
    <p:extLst>
      <p:ext uri="{BB962C8B-B14F-4D97-AF65-F5344CB8AC3E}">
        <p14:creationId xmlns:p14="http://schemas.microsoft.com/office/powerpoint/2010/main" val="893873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B85D58FE-AB88-48D1-9E77-AE11B6116AD7}"/>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6554C0"/>
                </a:solidFill>
              </a:defRPr>
            </a:defPPr>
          </a:lstStyle>
          <a:p>
            <a:pPr>
              <a:defRPr sz="1200" b="1">
                <a:solidFill>
                  <a:srgbClr val="6554C0"/>
                </a:solidFill>
              </a:defRPr>
            </a:pPr>
            <a:r>
              <a:rPr sz="1200" b="1">
                <a:solidFill>
                  <a:srgbClr val="6554C0"/>
                </a:solidFill>
              </a:rPr>
              <a:t>REPOSITORY</a:t>
            </a:r>
          </a:p>
        </p:txBody>
      </p:sp>
      <p:sp>
        <p:nvSpPr>
          <p:cNvPr id="2" name="Rechteck 1">
            <a:extLst>
              <a:ext uri="{FF2B5EF4-FFF2-40B4-BE49-F238E27FC236}">
                <a16:creationId xmlns:a16="http://schemas.microsoft.com/office/drawing/2014/main" id="{A237ED54-871C-41BD-B08C-74B52E69D11A}"/>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07 / 22</a:t>
            </a:r>
          </a:p>
        </p:txBody>
      </p:sp>
      <p:sp>
        <p:nvSpPr>
          <p:cNvPr id="3" name="Rechteck 2">
            <a:extLst>
              <a:ext uri="{FF2B5EF4-FFF2-40B4-BE49-F238E27FC236}">
                <a16:creationId xmlns:a16="http://schemas.microsoft.com/office/drawing/2014/main" id="{9CB97695-98C2-43AD-AD72-93EAB0031F4B}"/>
              </a:ext>
            </a:extLst>
          </p:cNvPr>
          <p:cNvSpPr>
            <a:spLocks noGrp="1"/>
          </p:cNvSpPr>
          <p:nvPr/>
        </p:nvSpPr>
        <p:spPr>
          <a:xfrm>
            <a:off x="609600" y="809625"/>
            <a:ext cx="10953750" cy="685800"/>
          </a:xfrm>
          <a:prstGeom prst="rect">
            <a:avLst/>
          </a:prstGeom>
          <a:noFill/>
          <a:ln w="0">
            <a:noFill/>
            <a:prstDash val="solid"/>
          </a:ln>
        </p:spPr>
        <p:txBody>
          <a:bodyPr/>
          <a:lstStyle>
            <a:defPPr>
              <a:defRPr sz="3600" b="1">
                <a:solidFill>
                  <a:srgbClr val="172335"/>
                </a:solidFill>
              </a:defRPr>
            </a:defPPr>
          </a:lstStyle>
          <a:p>
            <a:pPr>
              <a:defRPr sz="3600" b="1">
                <a:solidFill>
                  <a:srgbClr val="172335"/>
                </a:solidFill>
              </a:defRPr>
            </a:pPr>
            <a:r>
              <a:rPr sz="3600" b="1">
                <a:solidFill>
                  <a:srgbClr val="172335"/>
                </a:solidFill>
              </a:rPr>
              <a:t>Issues und Labels in GitHub</a:t>
            </a:r>
          </a:p>
        </p:txBody>
      </p:sp>
      <p:sp>
        <p:nvSpPr>
          <p:cNvPr id="4" name="Rechteck 3">
            <a:extLst>
              <a:ext uri="{FF2B5EF4-FFF2-40B4-BE49-F238E27FC236}">
                <a16:creationId xmlns:a16="http://schemas.microsoft.com/office/drawing/2014/main" id="{202312F4-879D-43A8-9239-5289AB7D4743}"/>
              </a:ext>
            </a:extLst>
          </p:cNvPr>
          <p:cNvSpPr>
            <a:spLocks noGrp="1"/>
          </p:cNvSpPr>
          <p:nvPr/>
        </p:nvSpPr>
        <p:spPr>
          <a:xfrm>
            <a:off x="628650" y="1533525"/>
            <a:ext cx="10858500" cy="476250"/>
          </a:xfrm>
          <a:prstGeom prst="rect">
            <a:avLst/>
          </a:prstGeom>
          <a:noFill/>
          <a:ln w="0">
            <a:noFill/>
            <a:prstDash val="solid"/>
          </a:ln>
        </p:spPr>
        <p:txBody>
          <a:bodyPr/>
          <a:lstStyle>
            <a:defPPr>
              <a:defRPr sz="1875" b="0">
                <a:solidFill>
                  <a:srgbClr val="657086"/>
                </a:solidFill>
              </a:defRPr>
            </a:defPPr>
          </a:lstStyle>
          <a:p>
            <a:pPr>
              <a:defRPr sz="1875" b="0">
                <a:solidFill>
                  <a:srgbClr val="657086"/>
                </a:solidFill>
              </a:defRPr>
            </a:pPr>
            <a:r>
              <a:rPr sz="1875" b="0">
                <a:solidFill>
                  <a:srgbClr val="657086"/>
                </a:solidFill>
              </a:rPr>
              <a:t>Aufgaben beschreiben und mit Schlagwörtern einordnen</a:t>
            </a:r>
          </a:p>
        </p:txBody>
      </p:sp>
      <p:pic>
        <p:nvPicPr>
          <p:cNvPr id="5" name="Grafik 4">
            <a:extLst>
              <a:ext uri="{FF2B5EF4-FFF2-40B4-BE49-F238E27FC236}">
                <a16:creationId xmlns:a16="http://schemas.microsoft.com/office/drawing/2014/main" id="{6B6C99B2-C144-460E-B272-7816EE9DFBFA}"/>
              </a:ext>
            </a:extLst>
          </p:cNvPr>
          <p:cNvPicPr>
            <a:picLocks noChangeAspect="1"/>
          </p:cNvPicPr>
          <p:nvPr/>
        </p:nvPicPr>
        <p:blipFill>
          <a:blip r:embed="rId3"/>
          <a:stretch/>
        </p:blipFill>
        <p:spPr>
          <a:xfrm>
            <a:off x="609600" y="2450866"/>
            <a:ext cx="8191500" cy="3146894"/>
          </a:xfrm>
          <a:prstGeom prst="rect">
            <a:avLst/>
          </a:prstGeom>
        </p:spPr>
      </p:pic>
      <p:pic>
        <p:nvPicPr>
          <p:cNvPr id="6" name="Grafik 5">
            <a:extLst>
              <a:ext uri="{FF2B5EF4-FFF2-40B4-BE49-F238E27FC236}">
                <a16:creationId xmlns:a16="http://schemas.microsoft.com/office/drawing/2014/main" id="{6448B95B-D597-48B8-B1E6-0189EDDC6086}"/>
              </a:ext>
            </a:extLst>
          </p:cNvPr>
          <p:cNvPicPr>
            <a:picLocks noChangeAspect="1"/>
          </p:cNvPicPr>
          <p:nvPr/>
        </p:nvPicPr>
        <p:blipFill>
          <a:blip r:embed="rId4"/>
          <a:stretch/>
        </p:blipFill>
        <p:spPr>
          <a:xfrm>
            <a:off x="9048750" y="2378835"/>
            <a:ext cx="2571750" cy="3338580"/>
          </a:xfrm>
          <a:prstGeom prst="rect">
            <a:avLst/>
          </a:prstGeom>
        </p:spPr>
      </p:pic>
    </p:spTree>
    <p:extLst>
      <p:ext uri="{BB962C8B-B14F-4D97-AF65-F5344CB8AC3E}">
        <p14:creationId xmlns:p14="http://schemas.microsoft.com/office/powerpoint/2010/main" val="1406307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C1DC2448-3601-465C-A664-520F585A8DFE}"/>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6554C0"/>
                </a:solidFill>
              </a:defRPr>
            </a:defPPr>
          </a:lstStyle>
          <a:p>
            <a:pPr>
              <a:defRPr sz="1200" b="1">
                <a:solidFill>
                  <a:srgbClr val="6554C0"/>
                </a:solidFill>
              </a:defRPr>
            </a:pPr>
            <a:r>
              <a:rPr sz="1200" b="1">
                <a:solidFill>
                  <a:srgbClr val="6554C0"/>
                </a:solidFill>
              </a:rPr>
              <a:t>REPOSITORY</a:t>
            </a:r>
          </a:p>
        </p:txBody>
      </p:sp>
      <p:sp>
        <p:nvSpPr>
          <p:cNvPr id="2" name="Rechteck 1">
            <a:extLst>
              <a:ext uri="{FF2B5EF4-FFF2-40B4-BE49-F238E27FC236}">
                <a16:creationId xmlns:a16="http://schemas.microsoft.com/office/drawing/2014/main" id="{8009C7ED-1670-4957-B7C2-B3FC6BA7A9FF}"/>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08 / 22</a:t>
            </a:r>
          </a:p>
        </p:txBody>
      </p:sp>
      <p:sp>
        <p:nvSpPr>
          <p:cNvPr id="3" name="Rechteck 2">
            <a:extLst>
              <a:ext uri="{FF2B5EF4-FFF2-40B4-BE49-F238E27FC236}">
                <a16:creationId xmlns:a16="http://schemas.microsoft.com/office/drawing/2014/main" id="{7CA7E922-C858-43BA-B428-E8305D82B97A}"/>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Milestone</a:t>
            </a:r>
          </a:p>
        </p:txBody>
      </p:sp>
      <p:sp>
        <p:nvSpPr>
          <p:cNvPr id="4" name="Rechteck 3">
            <a:extLst>
              <a:ext uri="{FF2B5EF4-FFF2-40B4-BE49-F238E27FC236}">
                <a16:creationId xmlns:a16="http://schemas.microsoft.com/office/drawing/2014/main" id="{3065ADCB-5FDB-4564-811D-B8F094B3B232}"/>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Aufgaben für ein gemeinsames Ziel bündeln</a:t>
            </a:r>
          </a:p>
        </p:txBody>
      </p:sp>
      <p:sp>
        <p:nvSpPr>
          <p:cNvPr id="5" name="Rechteck 4">
            <a:extLst>
              <a:ext uri="{FF2B5EF4-FFF2-40B4-BE49-F238E27FC236}">
                <a16:creationId xmlns:a16="http://schemas.microsoft.com/office/drawing/2014/main" id="{0EB169AC-70CE-43B8-9242-578D39B9AE98}"/>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6554C0"/>
                </a:solidFill>
              </a:defRPr>
            </a:defPPr>
          </a:lstStyle>
          <a:p>
            <a:pPr>
              <a:defRPr sz="1800" b="1">
                <a:solidFill>
                  <a:srgbClr val="6554C0"/>
                </a:solidFill>
              </a:defRPr>
            </a:pPr>
            <a:r>
              <a:rPr sz="1800" b="1">
                <a:solidFill>
                  <a:srgbClr val="6554C0"/>
                </a:solidFill>
              </a:rPr>
              <a:t>Was ist das?</a:t>
            </a:r>
          </a:p>
        </p:txBody>
      </p:sp>
      <p:sp>
        <p:nvSpPr>
          <p:cNvPr id="6" name="Rechteck 5">
            <a:extLst>
              <a:ext uri="{FF2B5EF4-FFF2-40B4-BE49-F238E27FC236}">
                <a16:creationId xmlns:a16="http://schemas.microsoft.com/office/drawing/2014/main" id="{DA47029B-EC0C-4607-870E-4EE89E1452B6}"/>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Ein Milestone fasst Issues innerhalb eines Repositorys zusammen. Er hat einen Titel und kann eine Beschreibung sowie einen Fälligkeitstermin erhalten.</a:t>
            </a:r>
          </a:p>
        </p:txBody>
      </p:sp>
      <p:sp>
        <p:nvSpPr>
          <p:cNvPr id="7" name="Rechteck 6">
            <a:extLst>
              <a:ext uri="{FF2B5EF4-FFF2-40B4-BE49-F238E27FC236}">
                <a16:creationId xmlns:a16="http://schemas.microsoft.com/office/drawing/2014/main" id="{380725FE-4F23-411E-A0B3-28718CD4279D}"/>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6554C0"/>
                </a:solidFill>
              </a:defRPr>
            </a:defPPr>
          </a:lstStyle>
          <a:p>
            <a:pPr>
              <a:defRPr sz="1800" b="1">
                <a:solidFill>
                  <a:srgbClr val="6554C0"/>
                </a:solidFill>
              </a:defRPr>
            </a:pPr>
            <a:r>
              <a:rPr sz="1800" b="1">
                <a:solidFill>
                  <a:srgbClr val="6554C0"/>
                </a:solidFill>
              </a:rPr>
              <a:t>Wofür braucht man es?</a:t>
            </a:r>
          </a:p>
        </p:txBody>
      </p:sp>
      <p:sp>
        <p:nvSpPr>
          <p:cNvPr id="8" name="Rechteck 7">
            <a:extLst>
              <a:ext uri="{FF2B5EF4-FFF2-40B4-BE49-F238E27FC236}">
                <a16:creationId xmlns:a16="http://schemas.microsoft.com/office/drawing/2014/main" id="{B174DA8D-4ECE-4A1F-B833-1044B3A2BBBC}"/>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Das Team verfolgt ein Release oder einen wichtigen Abgabetermin. Die Übersicht zeigt, welche zugeordneten Einträge noch offen und welche bereits geschlossen sind.</a:t>
            </a:r>
          </a:p>
        </p:txBody>
      </p:sp>
    </p:spTree>
    <p:extLst>
      <p:ext uri="{BB962C8B-B14F-4D97-AF65-F5344CB8AC3E}">
        <p14:creationId xmlns:p14="http://schemas.microsoft.com/office/powerpoint/2010/main" val="2139300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B88041D-B50D-4E57-802F-5221225946AF}"/>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6554C0"/>
                </a:solidFill>
              </a:defRPr>
            </a:defPPr>
          </a:lstStyle>
          <a:p>
            <a:pPr>
              <a:defRPr sz="1200" b="1">
                <a:solidFill>
                  <a:srgbClr val="6554C0"/>
                </a:solidFill>
              </a:defRPr>
            </a:pPr>
            <a:r>
              <a:rPr sz="1200" b="1">
                <a:solidFill>
                  <a:srgbClr val="6554C0"/>
                </a:solidFill>
              </a:rPr>
              <a:t>REPOSITORY</a:t>
            </a:r>
          </a:p>
        </p:txBody>
      </p:sp>
      <p:sp>
        <p:nvSpPr>
          <p:cNvPr id="2" name="Rechteck 1">
            <a:extLst>
              <a:ext uri="{FF2B5EF4-FFF2-40B4-BE49-F238E27FC236}">
                <a16:creationId xmlns:a16="http://schemas.microsoft.com/office/drawing/2014/main" id="{9958D017-F1E6-4AF1-9A4B-AE88737ABB33}"/>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09 / 22</a:t>
            </a:r>
          </a:p>
        </p:txBody>
      </p:sp>
      <p:sp>
        <p:nvSpPr>
          <p:cNvPr id="3" name="Rechteck 2">
            <a:extLst>
              <a:ext uri="{FF2B5EF4-FFF2-40B4-BE49-F238E27FC236}">
                <a16:creationId xmlns:a16="http://schemas.microsoft.com/office/drawing/2014/main" id="{33262F08-67C2-4C71-81F4-44B4FC2B42BE}"/>
              </a:ext>
            </a:extLst>
          </p:cNvPr>
          <p:cNvSpPr>
            <a:spLocks noGrp="1"/>
          </p:cNvSpPr>
          <p:nvPr/>
        </p:nvSpPr>
        <p:spPr>
          <a:xfrm>
            <a:off x="609600" y="809625"/>
            <a:ext cx="10953750" cy="685800"/>
          </a:xfrm>
          <a:prstGeom prst="rect">
            <a:avLst/>
          </a:prstGeom>
          <a:noFill/>
          <a:ln w="0">
            <a:noFill/>
            <a:prstDash val="solid"/>
          </a:ln>
        </p:spPr>
        <p:txBody>
          <a:bodyPr/>
          <a:lstStyle>
            <a:defPPr>
              <a:defRPr sz="3600" b="1">
                <a:solidFill>
                  <a:srgbClr val="172335"/>
                </a:solidFill>
              </a:defRPr>
            </a:defPPr>
          </a:lstStyle>
          <a:p>
            <a:pPr>
              <a:defRPr sz="3600" b="1">
                <a:solidFill>
                  <a:srgbClr val="172335"/>
                </a:solidFill>
              </a:defRPr>
            </a:pPr>
            <a:r>
              <a:rPr sz="3600" b="1" dirty="0" err="1">
                <a:solidFill>
                  <a:srgbClr val="172335"/>
                </a:solidFill>
              </a:rPr>
              <a:t>Meilenstein</a:t>
            </a:r>
            <a:endParaRPr sz="3600" b="1" dirty="0">
              <a:solidFill>
                <a:srgbClr val="172335"/>
              </a:solidFill>
            </a:endParaRPr>
          </a:p>
        </p:txBody>
      </p:sp>
      <p:pic>
        <p:nvPicPr>
          <p:cNvPr id="5" name="Grafik 4">
            <a:extLst>
              <a:ext uri="{FF2B5EF4-FFF2-40B4-BE49-F238E27FC236}">
                <a16:creationId xmlns:a16="http://schemas.microsoft.com/office/drawing/2014/main" id="{1B9CF3BB-4468-4266-9E20-D7277903CDAA}"/>
              </a:ext>
            </a:extLst>
          </p:cNvPr>
          <p:cNvPicPr>
            <a:picLocks noChangeAspect="1"/>
          </p:cNvPicPr>
          <p:nvPr/>
        </p:nvPicPr>
        <p:blipFill>
          <a:blip r:embed="rId3"/>
          <a:stretch/>
        </p:blipFill>
        <p:spPr>
          <a:xfrm>
            <a:off x="500743" y="1835312"/>
            <a:ext cx="10972800" cy="3628245"/>
          </a:xfrm>
          <a:prstGeom prst="rect">
            <a:avLst/>
          </a:prstGeom>
        </p:spPr>
      </p:pic>
    </p:spTree>
    <p:extLst>
      <p:ext uri="{BB962C8B-B14F-4D97-AF65-F5344CB8AC3E}">
        <p14:creationId xmlns:p14="http://schemas.microsoft.com/office/powerpoint/2010/main" val="66388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C8B7B58C-0A36-460E-B06B-1F621BFC41A7}"/>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F4EEF078-1422-4070-916F-EF49BC0B5D2A}"/>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10 / 22</a:t>
            </a:r>
          </a:p>
        </p:txBody>
      </p:sp>
      <p:sp>
        <p:nvSpPr>
          <p:cNvPr id="3" name="Rechteck 2">
            <a:extLst>
              <a:ext uri="{FF2B5EF4-FFF2-40B4-BE49-F238E27FC236}">
                <a16:creationId xmlns:a16="http://schemas.microsoft.com/office/drawing/2014/main" id="{EFA790DB-C11E-4AD1-A3E6-2ADCAE80E585}"/>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Project</a:t>
            </a:r>
          </a:p>
        </p:txBody>
      </p:sp>
      <p:sp>
        <p:nvSpPr>
          <p:cNvPr id="4" name="Rechteck 3">
            <a:extLst>
              <a:ext uri="{FF2B5EF4-FFF2-40B4-BE49-F238E27FC236}">
                <a16:creationId xmlns:a16="http://schemas.microsoft.com/office/drawing/2014/main" id="{20F76648-AB0F-4118-83C4-C4D351423A33}"/>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Die gemeinsame Planungsübersicht</a:t>
            </a:r>
          </a:p>
        </p:txBody>
      </p:sp>
      <p:sp>
        <p:nvSpPr>
          <p:cNvPr id="5" name="Rechteck 4">
            <a:extLst>
              <a:ext uri="{FF2B5EF4-FFF2-40B4-BE49-F238E27FC236}">
                <a16:creationId xmlns:a16="http://schemas.microsoft.com/office/drawing/2014/main" id="{90D4A059-8E53-485E-AA58-9BF2915EBA14}"/>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Was ist das?</a:t>
            </a:r>
          </a:p>
        </p:txBody>
      </p:sp>
      <p:sp>
        <p:nvSpPr>
          <p:cNvPr id="6" name="Rechteck 5">
            <a:extLst>
              <a:ext uri="{FF2B5EF4-FFF2-40B4-BE49-F238E27FC236}">
                <a16:creationId xmlns:a16="http://schemas.microsoft.com/office/drawing/2014/main" id="{F6E4C604-5CA9-4816-8FDD-98D6F0C12541}"/>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Ein GitHub Project sammelt Issues, Pull Requests und Draft Issues. Es kann Arbeit aus mehreren Repositories zusammenführen. Eigene Felder ergänzen Informationen zur Planung.</a:t>
            </a:r>
          </a:p>
        </p:txBody>
      </p:sp>
      <p:sp>
        <p:nvSpPr>
          <p:cNvPr id="7" name="Rechteck 6">
            <a:extLst>
              <a:ext uri="{FF2B5EF4-FFF2-40B4-BE49-F238E27FC236}">
                <a16:creationId xmlns:a16="http://schemas.microsoft.com/office/drawing/2014/main" id="{2600CA84-7871-4CBA-910C-3EFC4AB24890}"/>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Wofür braucht man es?</a:t>
            </a:r>
          </a:p>
        </p:txBody>
      </p:sp>
      <p:sp>
        <p:nvSpPr>
          <p:cNvPr id="8" name="Rechteck 7">
            <a:extLst>
              <a:ext uri="{FF2B5EF4-FFF2-40B4-BE49-F238E27FC236}">
                <a16:creationId xmlns:a16="http://schemas.microsoft.com/office/drawing/2014/main" id="{AE194D1B-090E-4F36-BBFE-1BD08E0DEEFD}"/>
              </a:ext>
            </a:extLst>
          </p:cNvPr>
          <p:cNvSpPr>
            <a:spLocks noGrp="1"/>
          </p:cNvSpPr>
          <p:nvPr/>
        </p:nvSpPr>
        <p:spPr>
          <a:xfrm>
            <a:off x="6286500" y="3019425"/>
            <a:ext cx="5238750" cy="2333625"/>
          </a:xfrm>
          <a:prstGeom prst="rect">
            <a:avLst/>
          </a:prstGeom>
          <a:noFill/>
          <a:ln w="0">
            <a:noFill/>
            <a:prstDash val="solid"/>
          </a:ln>
        </p:spPr>
        <p:txBody>
          <a:bodyPr/>
          <a:lstStyle>
            <a:defPPr>
              <a:defRPr sz="1875" b="0">
                <a:solidFill>
                  <a:srgbClr val="172335"/>
                </a:solidFill>
              </a:defRPr>
            </a:defPPr>
          </a:lstStyle>
          <a:p>
            <a:pPr>
              <a:defRPr sz="1875" b="0">
                <a:solidFill>
                  <a:srgbClr val="172335"/>
                </a:solidFill>
              </a:defRPr>
            </a:pPr>
            <a:r>
              <a:rPr sz="1875" b="0">
                <a:solidFill>
                  <a:srgbClr val="172335"/>
                </a:solidFill>
              </a:rPr>
              <a:t>Es dient dazu, diese Aufgaben zu planen und übersichtlich zu organisieren. Dort legt das Team zum Beispiel fest, wie wichtig eine Aufgabe ist, wie viel Aufwand sie benötigt und wann sie bearbeitet werden soll. Die Aufgaben können als Tabelle, Board oder Roadmap dargestellt werden.</a:t>
            </a:r>
          </a:p>
        </p:txBody>
      </p:sp>
    </p:spTree>
    <p:extLst>
      <p:ext uri="{BB962C8B-B14F-4D97-AF65-F5344CB8AC3E}">
        <p14:creationId xmlns:p14="http://schemas.microsoft.com/office/powerpoint/2010/main" val="308047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D762B79B-B535-469A-A5D7-14A2F3A12F95}"/>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D1AE836A-B9CB-4B4D-8364-59D8B61E858C}"/>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11 / 22</a:t>
            </a:r>
          </a:p>
        </p:txBody>
      </p:sp>
      <p:sp>
        <p:nvSpPr>
          <p:cNvPr id="3" name="Rechteck 2">
            <a:extLst>
              <a:ext uri="{FF2B5EF4-FFF2-40B4-BE49-F238E27FC236}">
                <a16:creationId xmlns:a16="http://schemas.microsoft.com/office/drawing/2014/main" id="{D066EA9E-F24B-4DCF-9841-0B30EF0CD7D2}"/>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Draft Issues</a:t>
            </a:r>
          </a:p>
        </p:txBody>
      </p:sp>
      <p:sp>
        <p:nvSpPr>
          <p:cNvPr id="4" name="Rechteck 3">
            <a:extLst>
              <a:ext uri="{FF2B5EF4-FFF2-40B4-BE49-F238E27FC236}">
                <a16:creationId xmlns:a16="http://schemas.microsoft.com/office/drawing/2014/main" id="{ADF1D7DE-4587-44A3-B3F9-CC1643E57804}"/>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Ideen direkt im Project sammeln</a:t>
            </a:r>
          </a:p>
        </p:txBody>
      </p:sp>
      <p:sp>
        <p:nvSpPr>
          <p:cNvPr id="5" name="Rechteck 4">
            <a:extLst>
              <a:ext uri="{FF2B5EF4-FFF2-40B4-BE49-F238E27FC236}">
                <a16:creationId xmlns:a16="http://schemas.microsoft.com/office/drawing/2014/main" id="{7D13EA74-0C51-4ED9-94E6-8BA23557C0AC}"/>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Was ist das?</a:t>
            </a:r>
          </a:p>
        </p:txBody>
      </p:sp>
      <p:sp>
        <p:nvSpPr>
          <p:cNvPr id="6" name="Rechteck 5">
            <a:extLst>
              <a:ext uri="{FF2B5EF4-FFF2-40B4-BE49-F238E27FC236}">
                <a16:creationId xmlns:a16="http://schemas.microsoft.com/office/drawing/2014/main" id="{05B8B7BC-CDF9-4F21-A754-5709F151169C}"/>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Ein Draft Issue ist ein Entwurf, der zunächst nur im Project existiert. Er besitzt noch keine Issue-Nummer und gehört noch zu keinem Repository.</a:t>
            </a:r>
          </a:p>
        </p:txBody>
      </p:sp>
      <p:sp>
        <p:nvSpPr>
          <p:cNvPr id="7" name="Rechteck 6">
            <a:extLst>
              <a:ext uri="{FF2B5EF4-FFF2-40B4-BE49-F238E27FC236}">
                <a16:creationId xmlns:a16="http://schemas.microsoft.com/office/drawing/2014/main" id="{D533E930-C5F1-4FE6-AAF7-74826D418C81}"/>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Wofür braucht man es?</a:t>
            </a:r>
          </a:p>
        </p:txBody>
      </p:sp>
      <p:sp>
        <p:nvSpPr>
          <p:cNvPr id="8" name="Rechteck 7">
            <a:extLst>
              <a:ext uri="{FF2B5EF4-FFF2-40B4-BE49-F238E27FC236}">
                <a16:creationId xmlns:a16="http://schemas.microsoft.com/office/drawing/2014/main" id="{CB957C7A-F95C-4549-BC19-CB6867F55EA1}"/>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Ideen lassen sich schnell sammeln und mit Projektfeldern planen. Sobald eine Idee konkret wird, kann das Team daraus ein Repository-Issue machen.</a:t>
            </a:r>
          </a:p>
        </p:txBody>
      </p:sp>
      <p:sp>
        <p:nvSpPr>
          <p:cNvPr id="9" name="Rechteck 8">
            <a:extLst>
              <a:ext uri="{FF2B5EF4-FFF2-40B4-BE49-F238E27FC236}">
                <a16:creationId xmlns:a16="http://schemas.microsoft.com/office/drawing/2014/main" id="{4CA73CE4-6A71-40DF-AD10-37E70BEDE84A}"/>
              </a:ext>
            </a:extLst>
          </p:cNvPr>
          <p:cNvSpPr>
            <a:spLocks noGrp="1"/>
          </p:cNvSpPr>
          <p:nvPr/>
        </p:nvSpPr>
        <p:spPr>
          <a:xfrm>
            <a:off x="628650" y="5610225"/>
            <a:ext cx="10668000" cy="523875"/>
          </a:xfrm>
          <a:prstGeom prst="rect">
            <a:avLst/>
          </a:prstGeom>
          <a:noFill/>
          <a:ln w="0">
            <a:noFill/>
            <a:prstDash val="solid"/>
          </a:ln>
        </p:spPr>
        <p:txBody>
          <a:bodyPr/>
          <a:lstStyle>
            <a:defPPr>
              <a:defRPr sz="1725" b="1">
                <a:solidFill>
                  <a:srgbClr val="087E83"/>
                </a:solidFill>
              </a:defRPr>
            </a:defPPr>
          </a:lstStyle>
          <a:p>
            <a:pPr>
              <a:defRPr sz="1725" b="1">
                <a:solidFill>
                  <a:srgbClr val="087E83"/>
                </a:solidFill>
              </a:defRPr>
            </a:pPr>
            <a:r>
              <a:rPr sz="1725" b="1" dirty="0" err="1">
                <a:solidFill>
                  <a:srgbClr val="087E83"/>
                </a:solidFill>
              </a:rPr>
              <a:t>Beispiel</a:t>
            </a:r>
            <a:r>
              <a:rPr sz="1725" b="1" dirty="0">
                <a:solidFill>
                  <a:srgbClr val="087E83"/>
                </a:solidFill>
              </a:rPr>
              <a:t>: „Ideen </a:t>
            </a:r>
            <a:r>
              <a:rPr sz="1725" b="1" dirty="0" err="1">
                <a:solidFill>
                  <a:srgbClr val="087E83"/>
                </a:solidFill>
              </a:rPr>
              <a:t>sammeln</a:t>
            </a:r>
            <a:r>
              <a:rPr sz="1725" b="1" dirty="0">
                <a:solidFill>
                  <a:srgbClr val="087E83"/>
                </a:solidFill>
              </a:rPr>
              <a:t>“.</a:t>
            </a:r>
          </a:p>
        </p:txBody>
      </p:sp>
    </p:spTree>
    <p:extLst>
      <p:ext uri="{BB962C8B-B14F-4D97-AF65-F5344CB8AC3E}">
        <p14:creationId xmlns:p14="http://schemas.microsoft.com/office/powerpoint/2010/main" val="1391277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BA30A2F-1381-47A2-B3BD-76EE1F699F07}"/>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570AA71D-3242-49ED-A3D6-89574527E61C}"/>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12 / 22</a:t>
            </a:r>
          </a:p>
        </p:txBody>
      </p:sp>
      <p:sp>
        <p:nvSpPr>
          <p:cNvPr id="3" name="Rechteck 2">
            <a:extLst>
              <a:ext uri="{FF2B5EF4-FFF2-40B4-BE49-F238E27FC236}">
                <a16:creationId xmlns:a16="http://schemas.microsoft.com/office/drawing/2014/main" id="{32EBBC30-D3FF-40B8-9657-71D766BF4E37}"/>
              </a:ext>
            </a:extLst>
          </p:cNvPr>
          <p:cNvSpPr>
            <a:spLocks noGrp="1"/>
          </p:cNvSpPr>
          <p:nvPr/>
        </p:nvSpPr>
        <p:spPr>
          <a:xfrm>
            <a:off x="609600" y="809625"/>
            <a:ext cx="10953750" cy="685800"/>
          </a:xfrm>
          <a:prstGeom prst="rect">
            <a:avLst/>
          </a:prstGeom>
          <a:noFill/>
          <a:ln w="0">
            <a:noFill/>
            <a:prstDash val="solid"/>
          </a:ln>
        </p:spPr>
        <p:txBody>
          <a:bodyPr/>
          <a:lstStyle>
            <a:defPPr>
              <a:defRPr sz="3600" b="1">
                <a:solidFill>
                  <a:srgbClr val="172335"/>
                </a:solidFill>
              </a:defRPr>
            </a:defPPr>
          </a:lstStyle>
          <a:p>
            <a:pPr>
              <a:defRPr sz="3600" b="1">
                <a:solidFill>
                  <a:srgbClr val="172335"/>
                </a:solidFill>
              </a:defRPr>
            </a:pPr>
            <a:r>
              <a:rPr sz="3600" b="1">
                <a:solidFill>
                  <a:srgbClr val="172335"/>
                </a:solidFill>
              </a:rPr>
              <a:t>Eine Idee als Draft erfassen</a:t>
            </a:r>
          </a:p>
        </p:txBody>
      </p:sp>
      <p:pic>
        <p:nvPicPr>
          <p:cNvPr id="5" name="Grafik 4">
            <a:extLst>
              <a:ext uri="{FF2B5EF4-FFF2-40B4-BE49-F238E27FC236}">
                <a16:creationId xmlns:a16="http://schemas.microsoft.com/office/drawing/2014/main" id="{1868AFF8-E04C-42D9-AF32-86D6B76BCA43}"/>
              </a:ext>
            </a:extLst>
          </p:cNvPr>
          <p:cNvPicPr>
            <a:picLocks noChangeAspect="1"/>
          </p:cNvPicPr>
          <p:nvPr/>
        </p:nvPicPr>
        <p:blipFill>
          <a:blip r:embed="rId3"/>
          <a:stretch/>
        </p:blipFill>
        <p:spPr>
          <a:xfrm>
            <a:off x="1934798" y="1457266"/>
            <a:ext cx="6654030" cy="5038784"/>
          </a:xfrm>
          <a:prstGeom prst="rect">
            <a:avLst/>
          </a:prstGeom>
        </p:spPr>
      </p:pic>
    </p:spTree>
    <p:extLst>
      <p:ext uri="{BB962C8B-B14F-4D97-AF65-F5344CB8AC3E}">
        <p14:creationId xmlns:p14="http://schemas.microsoft.com/office/powerpoint/2010/main" val="1931098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9150051D-900D-4596-9BFF-9081B5FE6A73}"/>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29CEF278-6F5B-4691-9A06-1A042F0DFA5F}"/>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13 / 22</a:t>
            </a:r>
          </a:p>
        </p:txBody>
      </p:sp>
      <p:sp>
        <p:nvSpPr>
          <p:cNvPr id="3" name="Rechteck 2">
            <a:extLst>
              <a:ext uri="{FF2B5EF4-FFF2-40B4-BE49-F238E27FC236}">
                <a16:creationId xmlns:a16="http://schemas.microsoft.com/office/drawing/2014/main" id="{6603880E-A9C9-42EE-B4AE-02F5298A8E54}"/>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Priority</a:t>
            </a:r>
          </a:p>
        </p:txBody>
      </p:sp>
      <p:sp>
        <p:nvSpPr>
          <p:cNvPr id="4" name="Rechteck 3">
            <a:extLst>
              <a:ext uri="{FF2B5EF4-FFF2-40B4-BE49-F238E27FC236}">
                <a16:creationId xmlns:a16="http://schemas.microsoft.com/office/drawing/2014/main" id="{CA87F0C4-C226-4D95-AC47-5F9A1664AE3F}"/>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Die Wichtigkeit einer Aufgabe</a:t>
            </a:r>
          </a:p>
        </p:txBody>
      </p:sp>
      <p:sp>
        <p:nvSpPr>
          <p:cNvPr id="5" name="Rechteck 4">
            <a:extLst>
              <a:ext uri="{FF2B5EF4-FFF2-40B4-BE49-F238E27FC236}">
                <a16:creationId xmlns:a16="http://schemas.microsoft.com/office/drawing/2014/main" id="{31B460C8-515B-4292-9F61-5836B69382FF}"/>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Was ist das?</a:t>
            </a:r>
          </a:p>
        </p:txBody>
      </p:sp>
      <p:sp>
        <p:nvSpPr>
          <p:cNvPr id="6" name="Rechteck 5">
            <a:extLst>
              <a:ext uri="{FF2B5EF4-FFF2-40B4-BE49-F238E27FC236}">
                <a16:creationId xmlns:a16="http://schemas.microsoft.com/office/drawing/2014/main" id="{D87B420C-69D3-4419-9C4A-7D72EC75BE06}"/>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Priority beschreibt, wie dringend oder wichtig eine Aufgabe im Vergleich zu anderen ist. Dafür eignet sich ein Single-select-Feld mit teamweit definierten Werten.</a:t>
            </a:r>
          </a:p>
        </p:txBody>
      </p:sp>
      <p:sp>
        <p:nvSpPr>
          <p:cNvPr id="7" name="Rechteck 6">
            <a:extLst>
              <a:ext uri="{FF2B5EF4-FFF2-40B4-BE49-F238E27FC236}">
                <a16:creationId xmlns:a16="http://schemas.microsoft.com/office/drawing/2014/main" id="{5BEF566F-D6B7-47B0-AAE7-D088A51470B4}"/>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Wofür braucht man es?</a:t>
            </a:r>
          </a:p>
        </p:txBody>
      </p:sp>
      <p:sp>
        <p:nvSpPr>
          <p:cNvPr id="8" name="Rechteck 7">
            <a:extLst>
              <a:ext uri="{FF2B5EF4-FFF2-40B4-BE49-F238E27FC236}">
                <a16:creationId xmlns:a16="http://schemas.microsoft.com/office/drawing/2014/main" id="{325F2A78-788D-40E5-8C95-D2F3C1DDD41C}"/>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Das Team entscheidet nachvollziehbar, was zuerst erledigt wird. Eine kleine Aufgabe kann sehr wichtig sein, während eine große Erweiterung warten kann.</a:t>
            </a:r>
          </a:p>
        </p:txBody>
      </p:sp>
      <p:sp>
        <p:nvSpPr>
          <p:cNvPr id="9" name="Rechteck 8">
            <a:extLst>
              <a:ext uri="{FF2B5EF4-FFF2-40B4-BE49-F238E27FC236}">
                <a16:creationId xmlns:a16="http://schemas.microsoft.com/office/drawing/2014/main" id="{0D8C94CB-C907-4491-9040-E9DBD0210AC6}"/>
              </a:ext>
            </a:extLst>
          </p:cNvPr>
          <p:cNvSpPr>
            <a:spLocks noGrp="1"/>
          </p:cNvSpPr>
          <p:nvPr/>
        </p:nvSpPr>
        <p:spPr>
          <a:xfrm>
            <a:off x="628650" y="5610225"/>
            <a:ext cx="10668000" cy="523875"/>
          </a:xfrm>
          <a:prstGeom prst="rect">
            <a:avLst/>
          </a:prstGeom>
          <a:noFill/>
          <a:ln w="0">
            <a:noFill/>
            <a:prstDash val="solid"/>
          </a:ln>
        </p:spPr>
        <p:txBody>
          <a:bodyPr/>
          <a:lstStyle>
            <a:defPPr>
              <a:defRPr sz="1725" b="1">
                <a:solidFill>
                  <a:srgbClr val="087E83"/>
                </a:solidFill>
              </a:defRPr>
            </a:defPPr>
          </a:lstStyle>
          <a:p>
            <a:pPr>
              <a:defRPr sz="1725" b="1">
                <a:solidFill>
                  <a:srgbClr val="087E83"/>
                </a:solidFill>
              </a:defRPr>
            </a:pPr>
            <a:r>
              <a:rPr sz="1725" b="1">
                <a:solidFill>
                  <a:srgbClr val="087E83"/>
                </a:solidFill>
              </a:rPr>
              <a:t>Beispiel: High, Medium oder Low.</a:t>
            </a:r>
          </a:p>
        </p:txBody>
      </p:sp>
    </p:spTree>
    <p:extLst>
      <p:ext uri="{BB962C8B-B14F-4D97-AF65-F5344CB8AC3E}">
        <p14:creationId xmlns:p14="http://schemas.microsoft.com/office/powerpoint/2010/main" val="876013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1DE64896-D077-4271-9337-1B1FAC973653}"/>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EA6E5CFF-E451-47EF-A139-6FC7DF5D81FC}"/>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14 / 22</a:t>
            </a:r>
          </a:p>
        </p:txBody>
      </p:sp>
      <p:sp>
        <p:nvSpPr>
          <p:cNvPr id="3" name="Rechteck 2">
            <a:extLst>
              <a:ext uri="{FF2B5EF4-FFF2-40B4-BE49-F238E27FC236}">
                <a16:creationId xmlns:a16="http://schemas.microsoft.com/office/drawing/2014/main" id="{4302953C-7432-4FDB-8AF2-34BE9192C762}"/>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Iteration</a:t>
            </a:r>
          </a:p>
        </p:txBody>
      </p:sp>
      <p:sp>
        <p:nvSpPr>
          <p:cNvPr id="4" name="Rechteck 3">
            <a:extLst>
              <a:ext uri="{FF2B5EF4-FFF2-40B4-BE49-F238E27FC236}">
                <a16:creationId xmlns:a16="http://schemas.microsoft.com/office/drawing/2014/main" id="{1C3A5CD1-84F2-4530-B621-B28107F1979F}"/>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Arbeit in feste Zeitabschnitte planen</a:t>
            </a:r>
          </a:p>
        </p:txBody>
      </p:sp>
      <p:sp>
        <p:nvSpPr>
          <p:cNvPr id="5" name="Rechteck 4">
            <a:extLst>
              <a:ext uri="{FF2B5EF4-FFF2-40B4-BE49-F238E27FC236}">
                <a16:creationId xmlns:a16="http://schemas.microsoft.com/office/drawing/2014/main" id="{9F90669D-25F5-4587-B03F-0BFDB2DA7C77}"/>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Was ist das?</a:t>
            </a:r>
          </a:p>
        </p:txBody>
      </p:sp>
      <p:sp>
        <p:nvSpPr>
          <p:cNvPr id="6" name="Rechteck 5">
            <a:extLst>
              <a:ext uri="{FF2B5EF4-FFF2-40B4-BE49-F238E27FC236}">
                <a16:creationId xmlns:a16="http://schemas.microsoft.com/office/drawing/2014/main" id="{7B598564-AFFC-4A69-AF00-BADA6017F540}"/>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Eine Iteration ist ein festgelegter Zeitraum, in dem das Team bestimmte Aufgaben bearbeiten möchte. In Projects bildet ein Feld vom Typ Iteration diese Zeitabschnitte ab.</a:t>
            </a:r>
          </a:p>
        </p:txBody>
      </p:sp>
      <p:sp>
        <p:nvSpPr>
          <p:cNvPr id="7" name="Rechteck 6">
            <a:extLst>
              <a:ext uri="{FF2B5EF4-FFF2-40B4-BE49-F238E27FC236}">
                <a16:creationId xmlns:a16="http://schemas.microsoft.com/office/drawing/2014/main" id="{8FF1F214-3C2A-467D-9ED9-6E7CCF334934}"/>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Wofür braucht man es?</a:t>
            </a:r>
          </a:p>
        </p:txBody>
      </p:sp>
      <p:sp>
        <p:nvSpPr>
          <p:cNvPr id="8" name="Rechteck 7">
            <a:extLst>
              <a:ext uri="{FF2B5EF4-FFF2-40B4-BE49-F238E27FC236}">
                <a16:creationId xmlns:a16="http://schemas.microsoft.com/office/drawing/2014/main" id="{E38E813D-8430-430E-9D98-6E239D0B54ED}"/>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Das Team verteilt Aufgaben auf überschaubare Zeiträume, betrachtet die aktuelle Arbeit und vergleicht die Planung verschiedener Iterationen.</a:t>
            </a:r>
          </a:p>
        </p:txBody>
      </p:sp>
      <p:sp>
        <p:nvSpPr>
          <p:cNvPr id="9" name="Rechteck 8">
            <a:extLst>
              <a:ext uri="{FF2B5EF4-FFF2-40B4-BE49-F238E27FC236}">
                <a16:creationId xmlns:a16="http://schemas.microsoft.com/office/drawing/2014/main" id="{6EA8DA3F-7D95-4298-85E6-7665E580B177}"/>
              </a:ext>
            </a:extLst>
          </p:cNvPr>
          <p:cNvSpPr>
            <a:spLocks noGrp="1"/>
          </p:cNvSpPr>
          <p:nvPr/>
        </p:nvSpPr>
        <p:spPr>
          <a:xfrm>
            <a:off x="628650" y="5610225"/>
            <a:ext cx="10668000" cy="523875"/>
          </a:xfrm>
          <a:prstGeom prst="rect">
            <a:avLst/>
          </a:prstGeom>
          <a:noFill/>
          <a:ln w="0">
            <a:noFill/>
            <a:prstDash val="solid"/>
          </a:ln>
        </p:spPr>
        <p:txBody>
          <a:bodyPr/>
          <a:lstStyle>
            <a:defPPr>
              <a:defRPr sz="1725" b="1">
                <a:solidFill>
                  <a:srgbClr val="087E83"/>
                </a:solidFill>
              </a:defRPr>
            </a:defPPr>
          </a:lstStyle>
          <a:p>
            <a:pPr>
              <a:defRPr sz="1725" b="1">
                <a:solidFill>
                  <a:srgbClr val="087E83"/>
                </a:solidFill>
              </a:defRPr>
            </a:pPr>
            <a:r>
              <a:rPr sz="1725" b="1">
                <a:solidFill>
                  <a:srgbClr val="087E83"/>
                </a:solidFill>
              </a:rPr>
              <a:t>Beispiel: In Woche 1 recherchieren, in Woche 2 Folien erstellen.</a:t>
            </a:r>
          </a:p>
        </p:txBody>
      </p:sp>
    </p:spTree>
    <p:extLst>
      <p:ext uri="{BB962C8B-B14F-4D97-AF65-F5344CB8AC3E}">
        <p14:creationId xmlns:p14="http://schemas.microsoft.com/office/powerpoint/2010/main" val="817392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75FF1638-69A2-40C9-9949-6B896FC0F4BE}"/>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7C857F16-5D7F-42C4-8142-ED577843A535}"/>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15 / 22</a:t>
            </a:r>
          </a:p>
        </p:txBody>
      </p:sp>
      <p:sp>
        <p:nvSpPr>
          <p:cNvPr id="3" name="Rechteck 2">
            <a:extLst>
              <a:ext uri="{FF2B5EF4-FFF2-40B4-BE49-F238E27FC236}">
                <a16:creationId xmlns:a16="http://schemas.microsoft.com/office/drawing/2014/main" id="{E488952D-482B-4C7D-9CF0-41D007CD8A93}"/>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Size</a:t>
            </a:r>
          </a:p>
        </p:txBody>
      </p:sp>
      <p:sp>
        <p:nvSpPr>
          <p:cNvPr id="4" name="Rechteck 3">
            <a:extLst>
              <a:ext uri="{FF2B5EF4-FFF2-40B4-BE49-F238E27FC236}">
                <a16:creationId xmlns:a16="http://schemas.microsoft.com/office/drawing/2014/main" id="{424D5FA3-C5CE-4D1D-A5DD-255DD309901F}"/>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Die relative Größe einer Aufgabe</a:t>
            </a:r>
          </a:p>
        </p:txBody>
      </p:sp>
      <p:sp>
        <p:nvSpPr>
          <p:cNvPr id="5" name="Rechteck 4">
            <a:extLst>
              <a:ext uri="{FF2B5EF4-FFF2-40B4-BE49-F238E27FC236}">
                <a16:creationId xmlns:a16="http://schemas.microsoft.com/office/drawing/2014/main" id="{D9AFA864-152C-4687-8274-7D20061F65D4}"/>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Was ist das?</a:t>
            </a:r>
          </a:p>
        </p:txBody>
      </p:sp>
      <p:sp>
        <p:nvSpPr>
          <p:cNvPr id="6" name="Rechteck 5">
            <a:extLst>
              <a:ext uri="{FF2B5EF4-FFF2-40B4-BE49-F238E27FC236}">
                <a16:creationId xmlns:a16="http://schemas.microsoft.com/office/drawing/2014/main" id="{C5B5A60D-BD24-47F5-9545-AAABDF4D8030}"/>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Size beschreibt die grobe Größe beziehungsweise den Aufwand einer Aufgabe. Häufig verwendet ein Team dafür Größen wie XS, S, M, L und XL.</a:t>
            </a:r>
          </a:p>
        </p:txBody>
      </p:sp>
      <p:sp>
        <p:nvSpPr>
          <p:cNvPr id="7" name="Rechteck 6">
            <a:extLst>
              <a:ext uri="{FF2B5EF4-FFF2-40B4-BE49-F238E27FC236}">
                <a16:creationId xmlns:a16="http://schemas.microsoft.com/office/drawing/2014/main" id="{7DE2ACC6-4536-4CA6-8B42-4A733A854F9D}"/>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Wofür braucht man es?</a:t>
            </a:r>
          </a:p>
        </p:txBody>
      </p:sp>
      <p:sp>
        <p:nvSpPr>
          <p:cNvPr id="8" name="Rechteck 7">
            <a:extLst>
              <a:ext uri="{FF2B5EF4-FFF2-40B4-BE49-F238E27FC236}">
                <a16:creationId xmlns:a16="http://schemas.microsoft.com/office/drawing/2014/main" id="{6D09DB6E-215C-48C2-8391-226DA6444E25}"/>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Das Team erkennt umfangreiche Aufgaben früh und kann sie aufteilen. Gemeinsame Vergleichsbeispiele sorgen dafür, dass alle die Größen ähnlich einschätzen.</a:t>
            </a:r>
          </a:p>
        </p:txBody>
      </p:sp>
    </p:spTree>
    <p:extLst>
      <p:ext uri="{BB962C8B-B14F-4D97-AF65-F5344CB8AC3E}">
        <p14:creationId xmlns:p14="http://schemas.microsoft.com/office/powerpoint/2010/main" val="1529294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C6E1516E-0F5E-4967-B315-013ACE64504D}"/>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35CE4DA8-09EC-497D-B03E-7E63FD5C2079}"/>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16 / 22</a:t>
            </a:r>
          </a:p>
        </p:txBody>
      </p:sp>
      <p:sp>
        <p:nvSpPr>
          <p:cNvPr id="3" name="Rechteck 2">
            <a:extLst>
              <a:ext uri="{FF2B5EF4-FFF2-40B4-BE49-F238E27FC236}">
                <a16:creationId xmlns:a16="http://schemas.microsoft.com/office/drawing/2014/main" id="{275BD500-F703-4C3C-A63F-736699373D7F}"/>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Estimate</a:t>
            </a:r>
          </a:p>
        </p:txBody>
      </p:sp>
      <p:sp>
        <p:nvSpPr>
          <p:cNvPr id="4" name="Rechteck 3">
            <a:extLst>
              <a:ext uri="{FF2B5EF4-FFF2-40B4-BE49-F238E27FC236}">
                <a16:creationId xmlns:a16="http://schemas.microsoft.com/office/drawing/2014/main" id="{56B55144-F53E-42F2-8824-CA9B074A86E4}"/>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Den Aufwand als Zahl schätzen</a:t>
            </a:r>
          </a:p>
        </p:txBody>
      </p:sp>
      <p:sp>
        <p:nvSpPr>
          <p:cNvPr id="5" name="Rechteck 4">
            <a:extLst>
              <a:ext uri="{FF2B5EF4-FFF2-40B4-BE49-F238E27FC236}">
                <a16:creationId xmlns:a16="http://schemas.microsoft.com/office/drawing/2014/main" id="{37297F82-FB41-4D71-8BB3-981950FB3ED2}"/>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Was ist das?</a:t>
            </a:r>
          </a:p>
        </p:txBody>
      </p:sp>
      <p:sp>
        <p:nvSpPr>
          <p:cNvPr id="6" name="Rechteck 5">
            <a:extLst>
              <a:ext uri="{FF2B5EF4-FFF2-40B4-BE49-F238E27FC236}">
                <a16:creationId xmlns:a16="http://schemas.microsoft.com/office/drawing/2014/main" id="{ECB0C3B1-6475-4274-9A1E-DE8CC424C462}"/>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dirty="0">
                <a:solidFill>
                  <a:srgbClr val="172335"/>
                </a:solidFill>
              </a:rPr>
              <a:t>Estimate </a:t>
            </a:r>
            <a:r>
              <a:rPr sz="2025" b="0" dirty="0" err="1">
                <a:solidFill>
                  <a:srgbClr val="172335"/>
                </a:solidFill>
              </a:rPr>
              <a:t>ist</a:t>
            </a:r>
            <a:r>
              <a:rPr sz="2025" b="0" dirty="0">
                <a:solidFill>
                  <a:srgbClr val="172335"/>
                </a:solidFill>
              </a:rPr>
              <a:t> </a:t>
            </a:r>
            <a:r>
              <a:rPr sz="2025" b="0" dirty="0" err="1">
                <a:solidFill>
                  <a:srgbClr val="172335"/>
                </a:solidFill>
              </a:rPr>
              <a:t>eine</a:t>
            </a:r>
            <a:r>
              <a:rPr sz="2025" b="0" dirty="0">
                <a:solidFill>
                  <a:srgbClr val="172335"/>
                </a:solidFill>
              </a:rPr>
              <a:t> </a:t>
            </a:r>
            <a:r>
              <a:rPr sz="2025" b="0" dirty="0" err="1">
                <a:solidFill>
                  <a:srgbClr val="172335"/>
                </a:solidFill>
              </a:rPr>
              <a:t>numerische</a:t>
            </a:r>
            <a:r>
              <a:rPr sz="2025" b="0" dirty="0">
                <a:solidFill>
                  <a:srgbClr val="172335"/>
                </a:solidFill>
              </a:rPr>
              <a:t> </a:t>
            </a:r>
            <a:r>
              <a:rPr sz="2025" b="0" dirty="0" err="1">
                <a:solidFill>
                  <a:srgbClr val="172335"/>
                </a:solidFill>
              </a:rPr>
              <a:t>Aufwandsschätzung</a:t>
            </a:r>
            <a:r>
              <a:rPr sz="2025" b="0" dirty="0">
                <a:solidFill>
                  <a:srgbClr val="172335"/>
                </a:solidFill>
              </a:rPr>
              <a:t>. Das Team </a:t>
            </a:r>
            <a:r>
              <a:rPr sz="2025" b="0" dirty="0" err="1">
                <a:solidFill>
                  <a:srgbClr val="172335"/>
                </a:solidFill>
              </a:rPr>
              <a:t>kann</a:t>
            </a:r>
            <a:r>
              <a:rPr sz="2025" b="0" dirty="0">
                <a:solidFill>
                  <a:srgbClr val="172335"/>
                </a:solidFill>
              </a:rPr>
              <a:t> </a:t>
            </a:r>
            <a:r>
              <a:rPr sz="2025" b="0" dirty="0" err="1">
                <a:solidFill>
                  <a:srgbClr val="172335"/>
                </a:solidFill>
              </a:rPr>
              <a:t>zum</a:t>
            </a:r>
            <a:r>
              <a:rPr sz="2025" b="0" dirty="0">
                <a:solidFill>
                  <a:srgbClr val="172335"/>
                </a:solidFill>
              </a:rPr>
              <a:t> </a:t>
            </a:r>
            <a:r>
              <a:rPr sz="2025" b="0" dirty="0" err="1">
                <a:solidFill>
                  <a:srgbClr val="172335"/>
                </a:solidFill>
              </a:rPr>
              <a:t>Beispiel</a:t>
            </a:r>
            <a:r>
              <a:rPr sz="2025" b="0" dirty="0">
                <a:solidFill>
                  <a:srgbClr val="172335"/>
                </a:solidFill>
              </a:rPr>
              <a:t> Story Points</a:t>
            </a:r>
            <a:r>
              <a:rPr lang="de-AT" sz="2025" b="0" dirty="0">
                <a:solidFill>
                  <a:srgbClr val="172335"/>
                </a:solidFill>
              </a:rPr>
              <a:t> (Punkten)</a:t>
            </a:r>
            <a:r>
              <a:rPr sz="2025" b="0" dirty="0">
                <a:solidFill>
                  <a:srgbClr val="172335"/>
                </a:solidFill>
              </a:rPr>
              <a:t> </a:t>
            </a:r>
            <a:r>
              <a:rPr sz="2025" b="0" dirty="0" err="1">
                <a:solidFill>
                  <a:srgbClr val="172335"/>
                </a:solidFill>
              </a:rPr>
              <a:t>oder</a:t>
            </a:r>
            <a:r>
              <a:rPr sz="2025" b="0" dirty="0">
                <a:solidFill>
                  <a:srgbClr val="172335"/>
                </a:solidFill>
              </a:rPr>
              <a:t> </a:t>
            </a:r>
            <a:r>
              <a:rPr sz="2025" b="0" dirty="0" err="1">
                <a:solidFill>
                  <a:srgbClr val="172335"/>
                </a:solidFill>
              </a:rPr>
              <a:t>Stunden</a:t>
            </a:r>
            <a:r>
              <a:rPr sz="2025" b="0" dirty="0">
                <a:solidFill>
                  <a:srgbClr val="172335"/>
                </a:solidFill>
              </a:rPr>
              <a:t> </a:t>
            </a:r>
            <a:r>
              <a:rPr sz="2025" b="0" dirty="0" err="1">
                <a:solidFill>
                  <a:srgbClr val="172335"/>
                </a:solidFill>
              </a:rPr>
              <a:t>verwenden</a:t>
            </a:r>
            <a:r>
              <a:rPr sz="2025" b="0" dirty="0">
                <a:solidFill>
                  <a:srgbClr val="172335"/>
                </a:solidFill>
              </a:rPr>
              <a:t>. Einheit und </a:t>
            </a:r>
            <a:r>
              <a:rPr sz="2025" b="0" dirty="0" err="1">
                <a:solidFill>
                  <a:srgbClr val="172335"/>
                </a:solidFill>
              </a:rPr>
              <a:t>Bedeutung</a:t>
            </a:r>
            <a:r>
              <a:rPr sz="2025" b="0" dirty="0">
                <a:solidFill>
                  <a:srgbClr val="172335"/>
                </a:solidFill>
              </a:rPr>
              <a:t> </a:t>
            </a:r>
            <a:r>
              <a:rPr sz="2025" b="0" dirty="0" err="1">
                <a:solidFill>
                  <a:srgbClr val="172335"/>
                </a:solidFill>
              </a:rPr>
              <a:t>müssen</a:t>
            </a:r>
            <a:r>
              <a:rPr sz="2025" b="0" dirty="0">
                <a:solidFill>
                  <a:srgbClr val="172335"/>
                </a:solidFill>
              </a:rPr>
              <a:t> für alle </a:t>
            </a:r>
            <a:r>
              <a:rPr sz="2025" b="0" dirty="0" err="1">
                <a:solidFill>
                  <a:srgbClr val="172335"/>
                </a:solidFill>
              </a:rPr>
              <a:t>eindeutig</a:t>
            </a:r>
            <a:r>
              <a:rPr sz="2025" b="0" dirty="0">
                <a:solidFill>
                  <a:srgbClr val="172335"/>
                </a:solidFill>
              </a:rPr>
              <a:t> sein.</a:t>
            </a:r>
          </a:p>
        </p:txBody>
      </p:sp>
      <p:sp>
        <p:nvSpPr>
          <p:cNvPr id="7" name="Rechteck 6">
            <a:extLst>
              <a:ext uri="{FF2B5EF4-FFF2-40B4-BE49-F238E27FC236}">
                <a16:creationId xmlns:a16="http://schemas.microsoft.com/office/drawing/2014/main" id="{E12B910F-860E-4A90-8D22-63EC3AF77C2C}"/>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Wofür braucht man es?</a:t>
            </a:r>
          </a:p>
        </p:txBody>
      </p:sp>
      <p:sp>
        <p:nvSpPr>
          <p:cNvPr id="8" name="Rechteck 7">
            <a:extLst>
              <a:ext uri="{FF2B5EF4-FFF2-40B4-BE49-F238E27FC236}">
                <a16:creationId xmlns:a16="http://schemas.microsoft.com/office/drawing/2014/main" id="{515E96E4-162E-43B8-BDD8-DF7A9F5CFC27}"/>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Das Team addiert die Schätzungen und prüft, ob die geplanten Aufgaben in die verfügbare Zeit passen. So lässt sich die Arbeit für eine Iteration besser planen.</a:t>
            </a:r>
          </a:p>
        </p:txBody>
      </p:sp>
    </p:spTree>
    <p:extLst>
      <p:ext uri="{BB962C8B-B14F-4D97-AF65-F5344CB8AC3E}">
        <p14:creationId xmlns:p14="http://schemas.microsoft.com/office/powerpoint/2010/main" val="1627558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CBE73F9-601F-4E3D-8B76-B30F09A1D99D}"/>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7EC7D4A3-D3B1-4434-AE3E-3A872A57A4F5}"/>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17 / 22</a:t>
            </a:r>
          </a:p>
        </p:txBody>
      </p:sp>
      <p:sp>
        <p:nvSpPr>
          <p:cNvPr id="3" name="Rechteck 2">
            <a:extLst>
              <a:ext uri="{FF2B5EF4-FFF2-40B4-BE49-F238E27FC236}">
                <a16:creationId xmlns:a16="http://schemas.microsoft.com/office/drawing/2014/main" id="{1E4119D1-D4A7-4FA1-ADB3-80C6DA2C104D}"/>
              </a:ext>
            </a:extLst>
          </p:cNvPr>
          <p:cNvSpPr>
            <a:spLocks noGrp="1"/>
          </p:cNvSpPr>
          <p:nvPr/>
        </p:nvSpPr>
        <p:spPr>
          <a:xfrm>
            <a:off x="609600" y="809625"/>
            <a:ext cx="10953750" cy="685800"/>
          </a:xfrm>
          <a:prstGeom prst="rect">
            <a:avLst/>
          </a:prstGeom>
          <a:noFill/>
          <a:ln w="0">
            <a:noFill/>
            <a:prstDash val="solid"/>
          </a:ln>
        </p:spPr>
        <p:txBody>
          <a:bodyPr/>
          <a:lstStyle>
            <a:defPPr>
              <a:defRPr sz="3600" b="1">
                <a:solidFill>
                  <a:srgbClr val="172335"/>
                </a:solidFill>
              </a:defRPr>
            </a:defPPr>
          </a:lstStyle>
          <a:p>
            <a:pPr>
              <a:defRPr sz="3600" b="1">
                <a:solidFill>
                  <a:srgbClr val="172335"/>
                </a:solidFill>
              </a:defRPr>
            </a:pPr>
            <a:r>
              <a:rPr sz="3600" b="1">
                <a:solidFill>
                  <a:srgbClr val="172335"/>
                </a:solidFill>
              </a:rPr>
              <a:t>Die Planung in der Tabelle</a:t>
            </a:r>
          </a:p>
        </p:txBody>
      </p:sp>
      <p:sp>
        <p:nvSpPr>
          <p:cNvPr id="4" name="Rechteck 3">
            <a:extLst>
              <a:ext uri="{FF2B5EF4-FFF2-40B4-BE49-F238E27FC236}">
                <a16:creationId xmlns:a16="http://schemas.microsoft.com/office/drawing/2014/main" id="{48A20432-2FC5-456E-BFE4-9BAC3E653668}"/>
              </a:ext>
            </a:extLst>
          </p:cNvPr>
          <p:cNvSpPr>
            <a:spLocks noGrp="1"/>
          </p:cNvSpPr>
          <p:nvPr/>
        </p:nvSpPr>
        <p:spPr>
          <a:xfrm>
            <a:off x="628650" y="1533525"/>
            <a:ext cx="10858500" cy="476250"/>
          </a:xfrm>
          <a:prstGeom prst="rect">
            <a:avLst/>
          </a:prstGeom>
          <a:noFill/>
          <a:ln w="0">
            <a:noFill/>
            <a:prstDash val="solid"/>
          </a:ln>
        </p:spPr>
        <p:txBody>
          <a:bodyPr/>
          <a:lstStyle>
            <a:defPPr>
              <a:defRPr sz="1875" b="0">
                <a:solidFill>
                  <a:srgbClr val="657086"/>
                </a:solidFill>
              </a:defRPr>
            </a:defPPr>
          </a:lstStyle>
          <a:p>
            <a:pPr>
              <a:defRPr sz="1875" b="0">
                <a:solidFill>
                  <a:srgbClr val="657086"/>
                </a:solidFill>
              </a:defRPr>
            </a:pPr>
            <a:r>
              <a:rPr sz="1875" b="0">
                <a:solidFill>
                  <a:srgbClr val="657086"/>
                </a:solidFill>
              </a:rPr>
              <a:t>Priorität, Aufwand und Zeitraum pro Aufgabe festlegen</a:t>
            </a:r>
          </a:p>
        </p:txBody>
      </p:sp>
      <p:pic>
        <p:nvPicPr>
          <p:cNvPr id="5" name="Grafik 4">
            <a:extLst>
              <a:ext uri="{FF2B5EF4-FFF2-40B4-BE49-F238E27FC236}">
                <a16:creationId xmlns:a16="http://schemas.microsoft.com/office/drawing/2014/main" id="{CE7A21C1-5D27-4F9F-8A57-E8F05D73592C}"/>
              </a:ext>
            </a:extLst>
          </p:cNvPr>
          <p:cNvPicPr>
            <a:picLocks noChangeAspect="1"/>
          </p:cNvPicPr>
          <p:nvPr/>
        </p:nvPicPr>
        <p:blipFill>
          <a:blip r:embed="rId3"/>
          <a:stretch/>
        </p:blipFill>
        <p:spPr>
          <a:xfrm>
            <a:off x="1038472" y="2238375"/>
            <a:ext cx="10115055" cy="3714750"/>
          </a:xfrm>
          <a:prstGeom prst="rect">
            <a:avLst/>
          </a:prstGeom>
        </p:spPr>
      </p:pic>
    </p:spTree>
    <p:extLst>
      <p:ext uri="{BB962C8B-B14F-4D97-AF65-F5344CB8AC3E}">
        <p14:creationId xmlns:p14="http://schemas.microsoft.com/office/powerpoint/2010/main" val="51100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DDE25777-07C8-4107-8EBA-393DAB8E8448}"/>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0F05B617-D2B6-4304-BFA6-5CC665B27A13}"/>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18 / 22</a:t>
            </a:r>
          </a:p>
        </p:txBody>
      </p:sp>
      <p:sp>
        <p:nvSpPr>
          <p:cNvPr id="3" name="Rechteck 2">
            <a:extLst>
              <a:ext uri="{FF2B5EF4-FFF2-40B4-BE49-F238E27FC236}">
                <a16:creationId xmlns:a16="http://schemas.microsoft.com/office/drawing/2014/main" id="{BCDCFFD0-2986-4676-88B3-A46FA91DEB9E}"/>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Backlog</a:t>
            </a:r>
          </a:p>
        </p:txBody>
      </p:sp>
      <p:sp>
        <p:nvSpPr>
          <p:cNvPr id="4" name="Rechteck 3">
            <a:extLst>
              <a:ext uri="{FF2B5EF4-FFF2-40B4-BE49-F238E27FC236}">
                <a16:creationId xmlns:a16="http://schemas.microsoft.com/office/drawing/2014/main" id="{4A081876-0126-41AB-8BA1-3DEDA0488231}"/>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Noch nicht umgesetzte Arbeit sammeln</a:t>
            </a:r>
          </a:p>
        </p:txBody>
      </p:sp>
      <p:sp>
        <p:nvSpPr>
          <p:cNvPr id="5" name="Rechteck 4">
            <a:extLst>
              <a:ext uri="{FF2B5EF4-FFF2-40B4-BE49-F238E27FC236}">
                <a16:creationId xmlns:a16="http://schemas.microsoft.com/office/drawing/2014/main" id="{3D514B84-3938-43D7-B0F9-5B3C4129AA5F}"/>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Was ist das?</a:t>
            </a:r>
          </a:p>
        </p:txBody>
      </p:sp>
      <p:sp>
        <p:nvSpPr>
          <p:cNvPr id="6" name="Rechteck 5">
            <a:extLst>
              <a:ext uri="{FF2B5EF4-FFF2-40B4-BE49-F238E27FC236}">
                <a16:creationId xmlns:a16="http://schemas.microsoft.com/office/drawing/2014/main" id="{D6AAC901-EC51-470A-8ECE-A2D498D4C801}"/>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Der Backlog ist die geordnete Sammlung offener Anforderungen, Ideen und Aufgaben, die noch erledigt werden sollen.</a:t>
            </a:r>
          </a:p>
        </p:txBody>
      </p:sp>
      <p:sp>
        <p:nvSpPr>
          <p:cNvPr id="7" name="Rechteck 6">
            <a:extLst>
              <a:ext uri="{FF2B5EF4-FFF2-40B4-BE49-F238E27FC236}">
                <a16:creationId xmlns:a16="http://schemas.microsoft.com/office/drawing/2014/main" id="{340ECFFE-A4E8-4AC5-8700-D7DA7120E23A}"/>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Wofür braucht man es?</a:t>
            </a:r>
          </a:p>
        </p:txBody>
      </p:sp>
      <p:sp>
        <p:nvSpPr>
          <p:cNvPr id="8" name="Rechteck 7">
            <a:extLst>
              <a:ext uri="{FF2B5EF4-FFF2-40B4-BE49-F238E27FC236}">
                <a16:creationId xmlns:a16="http://schemas.microsoft.com/office/drawing/2014/main" id="{9C7A8946-B9DA-4AF4-91ED-3434F9F5C903}"/>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Das Team klärt die Anforderungen und legt eine Reihenfolge fest. Ein Teil der Aufgaben wird für die nächste Arbeitsphase ausgewählt.</a:t>
            </a:r>
          </a:p>
        </p:txBody>
      </p:sp>
      <p:sp>
        <p:nvSpPr>
          <p:cNvPr id="9" name="Rechteck 8">
            <a:extLst>
              <a:ext uri="{FF2B5EF4-FFF2-40B4-BE49-F238E27FC236}">
                <a16:creationId xmlns:a16="http://schemas.microsoft.com/office/drawing/2014/main" id="{4E899209-7661-4B6E-995C-5BF1F4398206}"/>
              </a:ext>
            </a:extLst>
          </p:cNvPr>
          <p:cNvSpPr>
            <a:spLocks noGrp="1"/>
          </p:cNvSpPr>
          <p:nvPr/>
        </p:nvSpPr>
        <p:spPr>
          <a:xfrm>
            <a:off x="628650" y="5610225"/>
            <a:ext cx="10668000" cy="523875"/>
          </a:xfrm>
          <a:prstGeom prst="rect">
            <a:avLst/>
          </a:prstGeom>
          <a:noFill/>
          <a:ln w="0">
            <a:noFill/>
            <a:prstDash val="solid"/>
          </a:ln>
        </p:spPr>
        <p:txBody>
          <a:bodyPr/>
          <a:lstStyle>
            <a:defPPr>
              <a:defRPr sz="1725" b="1">
                <a:solidFill>
                  <a:srgbClr val="087E83"/>
                </a:solidFill>
              </a:defRPr>
            </a:defPPr>
          </a:lstStyle>
          <a:p>
            <a:pPr>
              <a:defRPr sz="1725" b="1">
                <a:solidFill>
                  <a:srgbClr val="087E83"/>
                </a:solidFill>
              </a:defRPr>
            </a:pPr>
            <a:r>
              <a:rPr sz="1725" b="1" dirty="0">
                <a:solidFill>
                  <a:srgbClr val="087E83"/>
                </a:solidFill>
              </a:rPr>
              <a:t>Status Backlog: „Für </a:t>
            </a:r>
            <a:r>
              <a:rPr sz="1725" b="1" dirty="0" err="1">
                <a:solidFill>
                  <a:srgbClr val="087E83"/>
                </a:solidFill>
              </a:rPr>
              <a:t>später</a:t>
            </a:r>
            <a:r>
              <a:rPr sz="1725" b="1" dirty="0">
                <a:solidFill>
                  <a:srgbClr val="087E83"/>
                </a:solidFill>
              </a:rPr>
              <a:t> </a:t>
            </a:r>
            <a:r>
              <a:rPr sz="1725" b="1" dirty="0" err="1">
                <a:solidFill>
                  <a:srgbClr val="087E83"/>
                </a:solidFill>
              </a:rPr>
              <a:t>vorgemerkt</a:t>
            </a:r>
            <a:r>
              <a:rPr sz="1725" b="1" dirty="0">
                <a:solidFill>
                  <a:srgbClr val="087E83"/>
                </a:solidFill>
              </a:rPr>
              <a:t>“.</a:t>
            </a:r>
          </a:p>
        </p:txBody>
      </p:sp>
    </p:spTree>
    <p:extLst>
      <p:ext uri="{BB962C8B-B14F-4D97-AF65-F5344CB8AC3E}">
        <p14:creationId xmlns:p14="http://schemas.microsoft.com/office/powerpoint/2010/main" val="1869877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A2EF5DFA-4DB0-4269-8D87-32D5CAEAAFAC}"/>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D4B710E7-0E03-4BB9-934F-9A92B2688092}"/>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19 / 22</a:t>
            </a:r>
          </a:p>
        </p:txBody>
      </p:sp>
      <p:sp>
        <p:nvSpPr>
          <p:cNvPr id="3" name="Rechteck 2">
            <a:extLst>
              <a:ext uri="{FF2B5EF4-FFF2-40B4-BE49-F238E27FC236}">
                <a16:creationId xmlns:a16="http://schemas.microsoft.com/office/drawing/2014/main" id="{6605F5C2-AF8C-40AF-9646-2565DD0ED4AC}"/>
              </a:ext>
            </a:extLst>
          </p:cNvPr>
          <p:cNvSpPr>
            <a:spLocks noGrp="1"/>
          </p:cNvSpPr>
          <p:nvPr/>
        </p:nvSpPr>
        <p:spPr>
          <a:xfrm>
            <a:off x="609600" y="809625"/>
            <a:ext cx="10953750" cy="685800"/>
          </a:xfrm>
          <a:prstGeom prst="rect">
            <a:avLst/>
          </a:prstGeom>
          <a:noFill/>
          <a:ln w="0">
            <a:noFill/>
            <a:prstDash val="solid"/>
          </a:ln>
        </p:spPr>
        <p:txBody>
          <a:bodyPr/>
          <a:lstStyle>
            <a:defPPr>
              <a:defRPr sz="3600" b="1">
                <a:solidFill>
                  <a:srgbClr val="172335"/>
                </a:solidFill>
              </a:defRPr>
            </a:defPPr>
          </a:lstStyle>
          <a:p>
            <a:pPr>
              <a:defRPr sz="3600" b="1">
                <a:solidFill>
                  <a:srgbClr val="172335"/>
                </a:solidFill>
              </a:defRPr>
            </a:pPr>
            <a:r>
              <a:rPr sz="3600" b="1">
                <a:solidFill>
                  <a:srgbClr val="172335"/>
                </a:solidFill>
              </a:rPr>
              <a:t>Backlog als Status einrichten</a:t>
            </a:r>
          </a:p>
        </p:txBody>
      </p:sp>
      <p:sp>
        <p:nvSpPr>
          <p:cNvPr id="4" name="Rechteck 3">
            <a:extLst>
              <a:ext uri="{FF2B5EF4-FFF2-40B4-BE49-F238E27FC236}">
                <a16:creationId xmlns:a16="http://schemas.microsoft.com/office/drawing/2014/main" id="{2B86DF9A-68CA-481B-AE61-6DD853EF2597}"/>
              </a:ext>
            </a:extLst>
          </p:cNvPr>
          <p:cNvSpPr>
            <a:spLocks noGrp="1"/>
          </p:cNvSpPr>
          <p:nvPr/>
        </p:nvSpPr>
        <p:spPr>
          <a:xfrm>
            <a:off x="628650" y="1533525"/>
            <a:ext cx="10858500" cy="476250"/>
          </a:xfrm>
          <a:prstGeom prst="rect">
            <a:avLst/>
          </a:prstGeom>
          <a:noFill/>
          <a:ln w="0">
            <a:noFill/>
            <a:prstDash val="solid"/>
          </a:ln>
        </p:spPr>
        <p:txBody>
          <a:bodyPr/>
          <a:lstStyle>
            <a:defPPr>
              <a:defRPr sz="1875" b="0">
                <a:solidFill>
                  <a:srgbClr val="657086"/>
                </a:solidFill>
              </a:defRPr>
            </a:defPPr>
          </a:lstStyle>
          <a:p>
            <a:pPr>
              <a:defRPr sz="1875" b="0">
                <a:solidFill>
                  <a:srgbClr val="657086"/>
                </a:solidFill>
              </a:defRPr>
            </a:pPr>
            <a:r>
              <a:rPr lang="de-AT" sz="1875" dirty="0">
                <a:solidFill>
                  <a:srgbClr val="657086"/>
                </a:solidFill>
              </a:rPr>
              <a:t>2 Varianten als Status oder View</a:t>
            </a:r>
            <a:endParaRPr sz="1875" b="0" dirty="0">
              <a:solidFill>
                <a:srgbClr val="657086"/>
              </a:solidFill>
            </a:endParaRPr>
          </a:p>
        </p:txBody>
      </p:sp>
      <p:pic>
        <p:nvPicPr>
          <p:cNvPr id="9" name="Grafik 8">
            <a:extLst>
              <a:ext uri="{FF2B5EF4-FFF2-40B4-BE49-F238E27FC236}">
                <a16:creationId xmlns:a16="http://schemas.microsoft.com/office/drawing/2014/main" id="{FFAFE8AE-DB3A-2DB4-660C-2059C572FB25}"/>
              </a:ext>
            </a:extLst>
          </p:cNvPr>
          <p:cNvPicPr>
            <a:picLocks noChangeAspect="1"/>
          </p:cNvPicPr>
          <p:nvPr/>
        </p:nvPicPr>
        <p:blipFill>
          <a:blip r:embed="rId3"/>
          <a:stretch>
            <a:fillRect/>
          </a:stretch>
        </p:blipFill>
        <p:spPr>
          <a:xfrm>
            <a:off x="6438624" y="2802560"/>
            <a:ext cx="5372376" cy="2254366"/>
          </a:xfrm>
          <a:prstGeom prst="rect">
            <a:avLst/>
          </a:prstGeom>
        </p:spPr>
      </p:pic>
      <p:pic>
        <p:nvPicPr>
          <p:cNvPr id="11" name="Grafik 10">
            <a:extLst>
              <a:ext uri="{FF2B5EF4-FFF2-40B4-BE49-F238E27FC236}">
                <a16:creationId xmlns:a16="http://schemas.microsoft.com/office/drawing/2014/main" id="{72DD02B0-F19C-D24E-BBB8-EA069E68BFFD}"/>
              </a:ext>
            </a:extLst>
          </p:cNvPr>
          <p:cNvPicPr>
            <a:picLocks noChangeAspect="1"/>
          </p:cNvPicPr>
          <p:nvPr/>
        </p:nvPicPr>
        <p:blipFill>
          <a:blip r:embed="rId4"/>
          <a:stretch>
            <a:fillRect/>
          </a:stretch>
        </p:blipFill>
        <p:spPr>
          <a:xfrm>
            <a:off x="287767" y="2009775"/>
            <a:ext cx="5808233" cy="3639690"/>
          </a:xfrm>
          <a:prstGeom prst="rect">
            <a:avLst/>
          </a:prstGeom>
        </p:spPr>
      </p:pic>
    </p:spTree>
    <p:extLst>
      <p:ext uri="{BB962C8B-B14F-4D97-AF65-F5344CB8AC3E}">
        <p14:creationId xmlns:p14="http://schemas.microsoft.com/office/powerpoint/2010/main" val="1112763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9FE10E8-95E7-4A71-91AD-E4FC367984C6}"/>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9D833F97-63A4-424F-B3E3-D9C1D8EE889E}"/>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20 / 22</a:t>
            </a:r>
          </a:p>
        </p:txBody>
      </p:sp>
      <p:sp>
        <p:nvSpPr>
          <p:cNvPr id="3" name="Rechteck 2">
            <a:extLst>
              <a:ext uri="{FF2B5EF4-FFF2-40B4-BE49-F238E27FC236}">
                <a16:creationId xmlns:a16="http://schemas.microsoft.com/office/drawing/2014/main" id="{A461BF1D-6901-4BAF-950B-F617C5744E98}"/>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Views</a:t>
            </a:r>
          </a:p>
        </p:txBody>
      </p:sp>
      <p:sp>
        <p:nvSpPr>
          <p:cNvPr id="4" name="Rechteck 3">
            <a:extLst>
              <a:ext uri="{FF2B5EF4-FFF2-40B4-BE49-F238E27FC236}">
                <a16:creationId xmlns:a16="http://schemas.microsoft.com/office/drawing/2014/main" id="{B50545AD-2F34-4220-96C4-42CA6627ABF0}"/>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Verschiedene Blicke auf dieselbe Arbeit</a:t>
            </a:r>
          </a:p>
        </p:txBody>
      </p:sp>
      <p:sp>
        <p:nvSpPr>
          <p:cNvPr id="5" name="Rechteck 4">
            <a:extLst>
              <a:ext uri="{FF2B5EF4-FFF2-40B4-BE49-F238E27FC236}">
                <a16:creationId xmlns:a16="http://schemas.microsoft.com/office/drawing/2014/main" id="{57F3841F-CB12-4738-82F7-DB2B497E46A9}"/>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Was ist das?</a:t>
            </a:r>
          </a:p>
        </p:txBody>
      </p:sp>
      <p:sp>
        <p:nvSpPr>
          <p:cNvPr id="6" name="Rechteck 5">
            <a:extLst>
              <a:ext uri="{FF2B5EF4-FFF2-40B4-BE49-F238E27FC236}">
                <a16:creationId xmlns:a16="http://schemas.microsoft.com/office/drawing/2014/main" id="{8E082830-C00A-4041-88E2-9CE1930914EE}"/>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Eine View ist eine gespeicherte Ansicht eines Projects. Sie kombiniert ein Layout mit Einstellungen wie Filter, Sortierung, Gruppierung und sichtbaren Feldern.</a:t>
            </a:r>
          </a:p>
        </p:txBody>
      </p:sp>
      <p:sp>
        <p:nvSpPr>
          <p:cNvPr id="7" name="Rechteck 6">
            <a:extLst>
              <a:ext uri="{FF2B5EF4-FFF2-40B4-BE49-F238E27FC236}">
                <a16:creationId xmlns:a16="http://schemas.microsoft.com/office/drawing/2014/main" id="{6356F7E9-1DE3-4F47-A924-64DEAD16290E}"/>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Wofür braucht man es?</a:t>
            </a:r>
          </a:p>
        </p:txBody>
      </p:sp>
      <p:sp>
        <p:nvSpPr>
          <p:cNvPr id="8" name="Rechteck 7">
            <a:extLst>
              <a:ext uri="{FF2B5EF4-FFF2-40B4-BE49-F238E27FC236}">
                <a16:creationId xmlns:a16="http://schemas.microsoft.com/office/drawing/2014/main" id="{1A0F51D9-2CDF-4E0A-B476-F09E6B225C45}"/>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Jede Rolle sieht die benötigten Informationen. Änderungen an einem Element gelten auch in den anderen Ansichten, die dieses Element anzeigen.</a:t>
            </a:r>
          </a:p>
        </p:txBody>
      </p:sp>
      <p:sp>
        <p:nvSpPr>
          <p:cNvPr id="9" name="Rechteck 8">
            <a:extLst>
              <a:ext uri="{FF2B5EF4-FFF2-40B4-BE49-F238E27FC236}">
                <a16:creationId xmlns:a16="http://schemas.microsoft.com/office/drawing/2014/main" id="{9E12F037-D694-4215-B1C4-617458DD9062}"/>
              </a:ext>
            </a:extLst>
          </p:cNvPr>
          <p:cNvSpPr>
            <a:spLocks noGrp="1"/>
          </p:cNvSpPr>
          <p:nvPr/>
        </p:nvSpPr>
        <p:spPr>
          <a:xfrm>
            <a:off x="628650" y="5610225"/>
            <a:ext cx="10668000" cy="523875"/>
          </a:xfrm>
          <a:prstGeom prst="rect">
            <a:avLst/>
          </a:prstGeom>
          <a:noFill/>
          <a:ln w="0">
            <a:noFill/>
            <a:prstDash val="solid"/>
          </a:ln>
        </p:spPr>
        <p:txBody>
          <a:bodyPr/>
          <a:lstStyle>
            <a:defPPr>
              <a:defRPr sz="1725" b="1">
                <a:solidFill>
                  <a:srgbClr val="087E83"/>
                </a:solidFill>
              </a:defRPr>
            </a:defPPr>
          </a:lstStyle>
          <a:p>
            <a:pPr>
              <a:defRPr sz="1725" b="1">
                <a:solidFill>
                  <a:srgbClr val="087E83"/>
                </a:solidFill>
              </a:defRPr>
            </a:pPr>
            <a:r>
              <a:rPr sz="1725" b="1">
                <a:solidFill>
                  <a:srgbClr val="087E83"/>
                </a:solidFill>
              </a:rPr>
              <a:t>Dieselben Aufgaben, unterschiedlich dargestellt und gefiltert.</a:t>
            </a:r>
          </a:p>
        </p:txBody>
      </p:sp>
    </p:spTree>
    <p:extLst>
      <p:ext uri="{BB962C8B-B14F-4D97-AF65-F5344CB8AC3E}">
        <p14:creationId xmlns:p14="http://schemas.microsoft.com/office/powerpoint/2010/main" val="625503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9CE4D80B-43C9-4FE1-BAB1-026D1D665B93}"/>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E6A2BDCB-5AEE-4B4D-979E-67F3BD873122}"/>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21 / 22</a:t>
            </a:r>
          </a:p>
        </p:txBody>
      </p:sp>
      <p:sp>
        <p:nvSpPr>
          <p:cNvPr id="3" name="Rechteck 2">
            <a:extLst>
              <a:ext uri="{FF2B5EF4-FFF2-40B4-BE49-F238E27FC236}">
                <a16:creationId xmlns:a16="http://schemas.microsoft.com/office/drawing/2014/main" id="{6C321BED-0EE5-4F76-AE35-D2FC4FFF1689}"/>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Kanban</a:t>
            </a:r>
          </a:p>
        </p:txBody>
      </p:sp>
      <p:sp>
        <p:nvSpPr>
          <p:cNvPr id="4" name="Rechteck 3">
            <a:extLst>
              <a:ext uri="{FF2B5EF4-FFF2-40B4-BE49-F238E27FC236}">
                <a16:creationId xmlns:a16="http://schemas.microsoft.com/office/drawing/2014/main" id="{27DB411B-07EF-4847-B891-9C4EA269D976}"/>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Den Arbeitsfluss auf einem Board zeigen</a:t>
            </a:r>
          </a:p>
        </p:txBody>
      </p:sp>
      <p:sp>
        <p:nvSpPr>
          <p:cNvPr id="5" name="Rechteck 4">
            <a:extLst>
              <a:ext uri="{FF2B5EF4-FFF2-40B4-BE49-F238E27FC236}">
                <a16:creationId xmlns:a16="http://schemas.microsoft.com/office/drawing/2014/main" id="{31315EA2-A3E4-4B58-8A9D-393893202769}"/>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Was ist das?</a:t>
            </a:r>
          </a:p>
        </p:txBody>
      </p:sp>
      <p:sp>
        <p:nvSpPr>
          <p:cNvPr id="6" name="Rechteck 5">
            <a:extLst>
              <a:ext uri="{FF2B5EF4-FFF2-40B4-BE49-F238E27FC236}">
                <a16:creationId xmlns:a16="http://schemas.microsoft.com/office/drawing/2014/main" id="{F815171F-6754-43BA-B3ED-650D0E179020}"/>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Kanban macht Arbeit und ihren Bearbeitungsstand sichtbar. In GitHub Projects nutzt man dafür das Board-Layout, häufig mit Spalten aus dem Feld Status.</a:t>
            </a:r>
          </a:p>
        </p:txBody>
      </p:sp>
      <p:sp>
        <p:nvSpPr>
          <p:cNvPr id="7" name="Rechteck 6">
            <a:extLst>
              <a:ext uri="{FF2B5EF4-FFF2-40B4-BE49-F238E27FC236}">
                <a16:creationId xmlns:a16="http://schemas.microsoft.com/office/drawing/2014/main" id="{3B92CA36-B6AA-404F-BA0F-6C3AACA82524}"/>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Wofür braucht man es?</a:t>
            </a:r>
          </a:p>
        </p:txBody>
      </p:sp>
      <p:sp>
        <p:nvSpPr>
          <p:cNvPr id="8" name="Rechteck 7">
            <a:extLst>
              <a:ext uri="{FF2B5EF4-FFF2-40B4-BE49-F238E27FC236}">
                <a16:creationId xmlns:a16="http://schemas.microsoft.com/office/drawing/2014/main" id="{C86573D0-C813-47FF-B4DE-44CB66589FF2}"/>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Das Team erkennt, welche Aufgaben warten, in Arbeit sind oder auf Prüfung warten. Vereinbarte Grenzen für parallele Arbeit helfen, Aufgaben fertigzustellen.</a:t>
            </a:r>
          </a:p>
        </p:txBody>
      </p:sp>
      <p:sp>
        <p:nvSpPr>
          <p:cNvPr id="9" name="Rechteck 8">
            <a:extLst>
              <a:ext uri="{FF2B5EF4-FFF2-40B4-BE49-F238E27FC236}">
                <a16:creationId xmlns:a16="http://schemas.microsoft.com/office/drawing/2014/main" id="{3CCD6E27-E6B2-415E-98F8-27597115A37D}"/>
              </a:ext>
            </a:extLst>
          </p:cNvPr>
          <p:cNvSpPr>
            <a:spLocks noGrp="1"/>
          </p:cNvSpPr>
          <p:nvPr/>
        </p:nvSpPr>
        <p:spPr>
          <a:xfrm>
            <a:off x="628650" y="5610225"/>
            <a:ext cx="10668000" cy="523875"/>
          </a:xfrm>
          <a:prstGeom prst="rect">
            <a:avLst/>
          </a:prstGeom>
          <a:noFill/>
          <a:ln w="0">
            <a:noFill/>
            <a:prstDash val="solid"/>
          </a:ln>
        </p:spPr>
        <p:txBody>
          <a:bodyPr/>
          <a:lstStyle>
            <a:defPPr>
              <a:defRPr sz="1725" b="1">
                <a:solidFill>
                  <a:srgbClr val="087E83"/>
                </a:solidFill>
              </a:defRPr>
            </a:defPPr>
          </a:lstStyle>
          <a:p>
            <a:pPr>
              <a:defRPr sz="1725" b="1">
                <a:solidFill>
                  <a:srgbClr val="087E83"/>
                </a:solidFill>
              </a:defRPr>
            </a:pPr>
            <a:r>
              <a:rPr lang="de-AT" sz="1725" b="1" dirty="0">
                <a:solidFill>
                  <a:srgbClr val="087E83"/>
                </a:solidFill>
              </a:rPr>
              <a:t>Zeigt Todo, In Progress usw.</a:t>
            </a:r>
            <a:endParaRPr sz="1725" b="1" dirty="0">
              <a:solidFill>
                <a:srgbClr val="087E83"/>
              </a:solidFill>
            </a:endParaRPr>
          </a:p>
        </p:txBody>
      </p:sp>
    </p:spTree>
    <p:extLst>
      <p:ext uri="{BB962C8B-B14F-4D97-AF65-F5344CB8AC3E}">
        <p14:creationId xmlns:p14="http://schemas.microsoft.com/office/powerpoint/2010/main" val="687889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9FC"/>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6EDE5AB1-D0CD-4C4B-B125-5FDE0D918ABF}"/>
              </a:ext>
            </a:extLst>
          </p:cNvPr>
          <p:cNvSpPr>
            <a:spLocks noGrp="1"/>
          </p:cNvSpPr>
          <p:nvPr/>
        </p:nvSpPr>
        <p:spPr>
          <a:xfrm>
            <a:off x="609600" y="333375"/>
            <a:ext cx="8572500" cy="285750"/>
          </a:xfrm>
          <a:prstGeom prst="rect">
            <a:avLst/>
          </a:prstGeom>
          <a:noFill/>
          <a:ln w="0">
            <a:noFill/>
            <a:prstDash val="solid"/>
          </a:ln>
        </p:spPr>
        <p:txBody>
          <a:bodyPr/>
          <a:lstStyle>
            <a:defPPr>
              <a:defRPr sz="1200" b="1">
                <a:solidFill>
                  <a:srgbClr val="087E83"/>
                </a:solidFill>
              </a:defRPr>
            </a:defPPr>
          </a:lstStyle>
          <a:p>
            <a:pPr>
              <a:defRPr sz="1200" b="1">
                <a:solidFill>
                  <a:srgbClr val="087E83"/>
                </a:solidFill>
              </a:defRPr>
            </a:pPr>
            <a:r>
              <a:rPr sz="1200" b="1">
                <a:solidFill>
                  <a:srgbClr val="087E83"/>
                </a:solidFill>
              </a:rPr>
              <a:t>PROJECT</a:t>
            </a:r>
          </a:p>
        </p:txBody>
      </p:sp>
      <p:sp>
        <p:nvSpPr>
          <p:cNvPr id="2" name="Rechteck 1">
            <a:extLst>
              <a:ext uri="{FF2B5EF4-FFF2-40B4-BE49-F238E27FC236}">
                <a16:creationId xmlns:a16="http://schemas.microsoft.com/office/drawing/2014/main" id="{0C183E20-893B-49AD-9DB4-9D698C081692}"/>
              </a:ext>
            </a:extLst>
          </p:cNvPr>
          <p:cNvSpPr>
            <a:spLocks noGrp="1"/>
          </p:cNvSpPr>
          <p:nvPr/>
        </p:nvSpPr>
        <p:spPr>
          <a:xfrm>
            <a:off x="10477500" y="6191250"/>
            <a:ext cx="1333500" cy="304800"/>
          </a:xfrm>
          <a:prstGeom prst="rect">
            <a:avLst/>
          </a:prstGeom>
          <a:noFill/>
          <a:ln w="0">
            <a:noFill/>
            <a:prstDash val="solid"/>
          </a:ln>
        </p:spPr>
        <p:txBody>
          <a:bodyPr/>
          <a:lstStyle>
            <a:defPPr>
              <a:defRPr sz="1200" b="0">
                <a:solidFill>
                  <a:srgbClr val="657086"/>
                </a:solidFill>
              </a:defRPr>
            </a:defPPr>
          </a:lstStyle>
          <a:p>
            <a:pPr>
              <a:defRPr sz="1200" b="0">
                <a:solidFill>
                  <a:srgbClr val="657086"/>
                </a:solidFill>
              </a:defRPr>
            </a:pPr>
            <a:r>
              <a:rPr sz="1200" b="0">
                <a:solidFill>
                  <a:srgbClr val="657086"/>
                </a:solidFill>
              </a:rPr>
              <a:t>22 / 22</a:t>
            </a:r>
          </a:p>
        </p:txBody>
      </p:sp>
      <p:sp>
        <p:nvSpPr>
          <p:cNvPr id="3" name="Rechteck 2">
            <a:extLst>
              <a:ext uri="{FF2B5EF4-FFF2-40B4-BE49-F238E27FC236}">
                <a16:creationId xmlns:a16="http://schemas.microsoft.com/office/drawing/2014/main" id="{5544B378-0EB6-42A6-8BDE-216A308F0E4E}"/>
              </a:ext>
            </a:extLst>
          </p:cNvPr>
          <p:cNvSpPr>
            <a:spLocks noGrp="1"/>
          </p:cNvSpPr>
          <p:nvPr/>
        </p:nvSpPr>
        <p:spPr>
          <a:xfrm>
            <a:off x="609600" y="828675"/>
            <a:ext cx="10763250" cy="704850"/>
          </a:xfrm>
          <a:prstGeom prst="rect">
            <a:avLst/>
          </a:prstGeom>
          <a:noFill/>
          <a:ln w="0">
            <a:noFill/>
            <a:prstDash val="solid"/>
          </a:ln>
        </p:spPr>
        <p:txBody>
          <a:bodyPr/>
          <a:lstStyle>
            <a:defPPr>
              <a:defRPr sz="4050" b="1">
                <a:solidFill>
                  <a:srgbClr val="172335"/>
                </a:solidFill>
              </a:defRPr>
            </a:defPPr>
          </a:lstStyle>
          <a:p>
            <a:pPr>
              <a:defRPr sz="4050" b="1">
                <a:solidFill>
                  <a:srgbClr val="172335"/>
                </a:solidFill>
              </a:defRPr>
            </a:pPr>
            <a:r>
              <a:rPr sz="4050" b="1">
                <a:solidFill>
                  <a:srgbClr val="172335"/>
                </a:solidFill>
              </a:rPr>
              <a:t>Roadmap</a:t>
            </a:r>
          </a:p>
        </p:txBody>
      </p:sp>
      <p:sp>
        <p:nvSpPr>
          <p:cNvPr id="4" name="Rechteck 3">
            <a:extLst>
              <a:ext uri="{FF2B5EF4-FFF2-40B4-BE49-F238E27FC236}">
                <a16:creationId xmlns:a16="http://schemas.microsoft.com/office/drawing/2014/main" id="{8BCD6878-E620-4CF7-B745-82AEBDDDCFEA}"/>
              </a:ext>
            </a:extLst>
          </p:cNvPr>
          <p:cNvSpPr>
            <a:spLocks noGrp="1"/>
          </p:cNvSpPr>
          <p:nvPr/>
        </p:nvSpPr>
        <p:spPr>
          <a:xfrm>
            <a:off x="628650" y="1600200"/>
            <a:ext cx="10858500" cy="523875"/>
          </a:xfrm>
          <a:prstGeom prst="rect">
            <a:avLst/>
          </a:prstGeom>
          <a:noFill/>
          <a:ln w="0">
            <a:noFill/>
            <a:prstDash val="solid"/>
          </a:ln>
        </p:spPr>
        <p:txBody>
          <a:bodyPr/>
          <a:lstStyle>
            <a:defPPr>
              <a:defRPr sz="1950" b="0">
                <a:solidFill>
                  <a:srgbClr val="657086"/>
                </a:solidFill>
              </a:defRPr>
            </a:defPPr>
          </a:lstStyle>
          <a:p>
            <a:pPr>
              <a:defRPr sz="1950" b="0">
                <a:solidFill>
                  <a:srgbClr val="657086"/>
                </a:solidFill>
              </a:defRPr>
            </a:pPr>
            <a:r>
              <a:rPr sz="1950" b="0">
                <a:solidFill>
                  <a:srgbClr val="657086"/>
                </a:solidFill>
              </a:rPr>
              <a:t>Arbeit auf einer Zeitachse darstellen</a:t>
            </a:r>
          </a:p>
        </p:txBody>
      </p:sp>
      <p:sp>
        <p:nvSpPr>
          <p:cNvPr id="5" name="Rechteck 4">
            <a:extLst>
              <a:ext uri="{FF2B5EF4-FFF2-40B4-BE49-F238E27FC236}">
                <a16:creationId xmlns:a16="http://schemas.microsoft.com/office/drawing/2014/main" id="{2CB8A3D6-F569-48E7-A252-C4DA727A9327}"/>
              </a:ext>
            </a:extLst>
          </p:cNvPr>
          <p:cNvSpPr>
            <a:spLocks noGrp="1"/>
          </p:cNvSpPr>
          <p:nvPr/>
        </p:nvSpPr>
        <p:spPr>
          <a:xfrm>
            <a:off x="628650" y="2514600"/>
            <a:ext cx="495300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Was ist das?</a:t>
            </a:r>
          </a:p>
        </p:txBody>
      </p:sp>
      <p:sp>
        <p:nvSpPr>
          <p:cNvPr id="6" name="Rechteck 5">
            <a:extLst>
              <a:ext uri="{FF2B5EF4-FFF2-40B4-BE49-F238E27FC236}">
                <a16:creationId xmlns:a16="http://schemas.microsoft.com/office/drawing/2014/main" id="{A3E345C8-3F90-445C-88DA-53042DDAE9FB}"/>
              </a:ext>
            </a:extLst>
          </p:cNvPr>
          <p:cNvSpPr>
            <a:spLocks noGrp="1"/>
          </p:cNvSpPr>
          <p:nvPr/>
        </p:nvSpPr>
        <p:spPr>
          <a:xfrm>
            <a:off x="628650" y="3019425"/>
            <a:ext cx="5095875"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Die Roadmap ist ein Layout in Projects. Sie positioniert Elemente mithilfe von Datumsfeldern oder Iterationen auf einer Zeitachse.</a:t>
            </a:r>
          </a:p>
        </p:txBody>
      </p:sp>
      <p:sp>
        <p:nvSpPr>
          <p:cNvPr id="7" name="Rechteck 6">
            <a:extLst>
              <a:ext uri="{FF2B5EF4-FFF2-40B4-BE49-F238E27FC236}">
                <a16:creationId xmlns:a16="http://schemas.microsoft.com/office/drawing/2014/main" id="{C4B81019-F07D-4BB1-9BF0-73545D3C002F}"/>
              </a:ext>
            </a:extLst>
          </p:cNvPr>
          <p:cNvSpPr>
            <a:spLocks noGrp="1"/>
          </p:cNvSpPr>
          <p:nvPr/>
        </p:nvSpPr>
        <p:spPr>
          <a:xfrm>
            <a:off x="6286500" y="2514600"/>
            <a:ext cx="5238750" cy="381000"/>
          </a:xfrm>
          <a:prstGeom prst="rect">
            <a:avLst/>
          </a:prstGeom>
          <a:noFill/>
          <a:ln w="0">
            <a:noFill/>
            <a:prstDash val="solid"/>
          </a:ln>
        </p:spPr>
        <p:txBody>
          <a:bodyPr/>
          <a:lstStyle>
            <a:defPPr>
              <a:defRPr sz="1800" b="1">
                <a:solidFill>
                  <a:srgbClr val="087E83"/>
                </a:solidFill>
              </a:defRPr>
            </a:defPPr>
          </a:lstStyle>
          <a:p>
            <a:pPr>
              <a:defRPr sz="1800" b="1">
                <a:solidFill>
                  <a:srgbClr val="087E83"/>
                </a:solidFill>
              </a:defRPr>
            </a:pPr>
            <a:r>
              <a:rPr sz="1800" b="1">
                <a:solidFill>
                  <a:srgbClr val="087E83"/>
                </a:solidFill>
              </a:rPr>
              <a:t>Wofür braucht man es?</a:t>
            </a:r>
          </a:p>
        </p:txBody>
      </p:sp>
      <p:sp>
        <p:nvSpPr>
          <p:cNvPr id="8" name="Rechteck 7">
            <a:extLst>
              <a:ext uri="{FF2B5EF4-FFF2-40B4-BE49-F238E27FC236}">
                <a16:creationId xmlns:a16="http://schemas.microsoft.com/office/drawing/2014/main" id="{23D4A460-D6DB-4849-AE46-95A313B88FE7}"/>
              </a:ext>
            </a:extLst>
          </p:cNvPr>
          <p:cNvSpPr>
            <a:spLocks noGrp="1"/>
          </p:cNvSpPr>
          <p:nvPr/>
        </p:nvSpPr>
        <p:spPr>
          <a:xfrm>
            <a:off x="6286500" y="3019425"/>
            <a:ext cx="5238750" cy="2333625"/>
          </a:xfrm>
          <a:prstGeom prst="rect">
            <a:avLst/>
          </a:prstGeom>
          <a:noFill/>
          <a:ln w="0">
            <a:noFill/>
            <a:prstDash val="solid"/>
          </a:ln>
        </p:spPr>
        <p:txBody>
          <a:bodyPr/>
          <a:lstStyle>
            <a:defPPr>
              <a:defRPr sz="2025" b="0">
                <a:solidFill>
                  <a:srgbClr val="172335"/>
                </a:solidFill>
              </a:defRPr>
            </a:defPPr>
          </a:lstStyle>
          <a:p>
            <a:pPr>
              <a:defRPr sz="2025" b="0">
                <a:solidFill>
                  <a:srgbClr val="172335"/>
                </a:solidFill>
              </a:defRPr>
            </a:pPr>
            <a:r>
              <a:rPr sz="2025" b="0">
                <a:solidFill>
                  <a:srgbClr val="172335"/>
                </a:solidFill>
              </a:rPr>
              <a:t>Das Team erkennt geplante Zeiträume und Überschneidungen. Eine Roadmap unterstützt die Abstimmung, wenn mehrere Funktionen oder Releases gleichzeitig vorbereitet werden.</a:t>
            </a:r>
          </a:p>
        </p:txBody>
      </p:sp>
      <p:sp>
        <p:nvSpPr>
          <p:cNvPr id="9" name="Rechteck 8">
            <a:extLst>
              <a:ext uri="{FF2B5EF4-FFF2-40B4-BE49-F238E27FC236}">
                <a16:creationId xmlns:a16="http://schemas.microsoft.com/office/drawing/2014/main" id="{0EC44511-82B4-44A3-97EE-BE26632ADDDF}"/>
              </a:ext>
            </a:extLst>
          </p:cNvPr>
          <p:cNvSpPr>
            <a:spLocks noGrp="1"/>
          </p:cNvSpPr>
          <p:nvPr/>
        </p:nvSpPr>
        <p:spPr>
          <a:xfrm>
            <a:off x="628650" y="5610225"/>
            <a:ext cx="10668000" cy="523875"/>
          </a:xfrm>
          <a:prstGeom prst="rect">
            <a:avLst/>
          </a:prstGeom>
          <a:noFill/>
          <a:ln w="0">
            <a:noFill/>
            <a:prstDash val="solid"/>
          </a:ln>
        </p:spPr>
        <p:txBody>
          <a:bodyPr/>
          <a:lstStyle>
            <a:defPPr>
              <a:defRPr sz="1725" b="1">
                <a:solidFill>
                  <a:srgbClr val="087E83"/>
                </a:solidFill>
              </a:defRPr>
            </a:defPPr>
          </a:lstStyle>
          <a:p>
            <a:pPr>
              <a:defRPr sz="1725" b="1">
                <a:solidFill>
                  <a:srgbClr val="087E83"/>
                </a:solidFill>
              </a:defRPr>
            </a:pPr>
            <a:r>
              <a:rPr lang="de-AT" sz="1725" b="1" dirty="0">
                <a:solidFill>
                  <a:srgbClr val="087E83"/>
                </a:solidFill>
              </a:rPr>
              <a:t>Zeigt Iterationen, Überschneidungen</a:t>
            </a:r>
            <a:endParaRPr sz="1725" b="1" dirty="0">
              <a:solidFill>
                <a:srgbClr val="087E83"/>
              </a:solidFill>
            </a:endParaRPr>
          </a:p>
        </p:txBody>
      </p:sp>
    </p:spTree>
    <p:extLst>
      <p:ext uri="{BB962C8B-B14F-4D97-AF65-F5344CB8AC3E}">
        <p14:creationId xmlns:p14="http://schemas.microsoft.com/office/powerpoint/2010/main" val="165172757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1185</Words>
  <Application>Microsoft Office PowerPoint</Application>
  <DocSecurity>0</DocSecurity>
  <PresentationFormat>Breitbild</PresentationFormat>
  <Paragraphs>154</Paragraphs>
  <Slides>22</Slides>
  <Notes>22</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22</vt:i4>
      </vt:variant>
    </vt:vector>
  </HeadingPairs>
  <TitlesOfParts>
    <vt:vector size="24" baseType="lpstr">
      <vt:lpstr>Aptos</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e.gotti@gmx.at</cp:lastModifiedBy>
  <cp:revision>1</cp:revision>
  <dcterms:created xsi:type="dcterms:W3CDTF">2026-10-15T16:39:10Z</dcterms:created>
  <dcterms:modified xsi:type="dcterms:W3CDTF">2026-10-15T17:02:57Z</dcterms:modified>
</cp:coreProperties>
</file>